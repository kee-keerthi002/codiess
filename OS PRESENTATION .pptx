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49"/>
    <p:sldId id="257" r:id="rId50"/>
    <p:sldId id="258" r:id="rId51"/>
    <p:sldId id="259" r:id="rId52"/>
    <p:sldId id="260" r:id="rId53"/>
    <p:sldId id="261" r:id="rId54"/>
    <p:sldId id="262" r:id="rId55"/>
    <p:sldId id="263" r:id="rId56"/>
    <p:sldId id="264" r:id="rId57"/>
    <p:sldId id="265" r:id="rId58"/>
    <p:sldId id="266" r:id="rId59"/>
    <p:sldId id="267" r:id="rId60"/>
    <p:sldId id="268" r:id="rId61"/>
    <p:sldId id="269" r:id="rId62"/>
    <p:sldId id="270" r:id="rId63"/>
    <p:sldId id="271" r:id="rId64"/>
    <p:sldId id="272" r:id="rId65"/>
    <p:sldId id="273" r:id="rId66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Lato 2" charset="1" panose="020F0502020204030203"/>
      <p:regular r:id="rId10"/>
    </p:embeddedFont>
    <p:embeddedFont>
      <p:font typeface="Lato 2 Bold" charset="1" panose="020F0502020204030203"/>
      <p:regular r:id="rId11"/>
    </p:embeddedFont>
    <p:embeddedFont>
      <p:font typeface="Lato 2 Italics" charset="1" panose="020F0502020204030203"/>
      <p:regular r:id="rId12"/>
    </p:embeddedFont>
    <p:embeddedFont>
      <p:font typeface="Lato 2 Bold Italics" charset="1" panose="020F0502020204030203"/>
      <p:regular r:id="rId13"/>
    </p:embeddedFont>
    <p:embeddedFont>
      <p:font typeface="Scripter" charset="1" panose="00000000000000000000"/>
      <p:regular r:id="rId14"/>
    </p:embeddedFont>
    <p:embeddedFont>
      <p:font typeface="Biski" charset="1" panose="00000000000000000000"/>
      <p:regular r:id="rId15"/>
    </p:embeddedFont>
    <p:embeddedFont>
      <p:font typeface="Biski Bold" charset="1" panose="00000000000000000000"/>
      <p:regular r:id="rId16"/>
    </p:embeddedFont>
    <p:embeddedFont>
      <p:font typeface="Biski Italics" charset="1" panose="00000000000000000000"/>
      <p:regular r:id="rId17"/>
    </p:embeddedFont>
    <p:embeddedFont>
      <p:font typeface="Biski Bold Italics" charset="1" panose="00000000000000000000"/>
      <p:regular r:id="rId18"/>
    </p:embeddedFont>
    <p:embeddedFont>
      <p:font typeface="Biski Thin" charset="1" panose="00000000000000000000"/>
      <p:regular r:id="rId19"/>
    </p:embeddedFont>
    <p:embeddedFont>
      <p:font typeface="Biski Thin Italics" charset="1" panose="00000000000000000000"/>
      <p:regular r:id="rId20"/>
    </p:embeddedFont>
    <p:embeddedFont>
      <p:font typeface="Biski Light" charset="1" panose="00000000000000000000"/>
      <p:regular r:id="rId21"/>
    </p:embeddedFont>
    <p:embeddedFont>
      <p:font typeface="Biski Light Italics" charset="1" panose="00000000000000000000"/>
      <p:regular r:id="rId22"/>
    </p:embeddedFont>
    <p:embeddedFont>
      <p:font typeface="Biski Medium" charset="1" panose="00000000000000000000"/>
      <p:regular r:id="rId23"/>
    </p:embeddedFont>
    <p:embeddedFont>
      <p:font typeface="Biski Medium Italics" charset="1" panose="00000000000000000000"/>
      <p:regular r:id="rId24"/>
    </p:embeddedFont>
    <p:embeddedFont>
      <p:font typeface="Biski Semi-Bold" charset="1" panose="00000000000000000000"/>
      <p:regular r:id="rId25"/>
    </p:embeddedFont>
    <p:embeddedFont>
      <p:font typeface="Biski Semi-Bold Italics" charset="1" panose="00000000000000000000"/>
      <p:regular r:id="rId26"/>
    </p:embeddedFont>
    <p:embeddedFont>
      <p:font typeface="Biski Ultra-Bold" charset="1" panose="00000000000000000000"/>
      <p:regular r:id="rId27"/>
    </p:embeddedFont>
    <p:embeddedFont>
      <p:font typeface="Biski Ultra-Bold Italics" charset="1" panose="00000000000000000000"/>
      <p:regular r:id="rId28"/>
    </p:embeddedFont>
    <p:embeddedFont>
      <p:font typeface="Biski Heavy" charset="1" panose="00000000000000000000"/>
      <p:regular r:id="rId29"/>
    </p:embeddedFont>
    <p:embeddedFont>
      <p:font typeface="Biski Heavy Italics" charset="1" panose="00000000000000000000"/>
      <p:regular r:id="rId30"/>
    </p:embeddedFont>
    <p:embeddedFont>
      <p:font typeface="Open Sans" charset="1" panose="020B0606030504020204"/>
      <p:regular r:id="rId31"/>
    </p:embeddedFont>
    <p:embeddedFont>
      <p:font typeface="Open Sans Bold" charset="1" panose="020B0806030504020204"/>
      <p:regular r:id="rId32"/>
    </p:embeddedFont>
    <p:embeddedFont>
      <p:font typeface="Open Sans Italics" charset="1" panose="020B0606030504020204"/>
      <p:regular r:id="rId33"/>
    </p:embeddedFont>
    <p:embeddedFont>
      <p:font typeface="Open Sans Bold Italics" charset="1" panose="020B0806030504020204"/>
      <p:regular r:id="rId34"/>
    </p:embeddedFont>
    <p:embeddedFont>
      <p:font typeface="Open Sans Light" charset="1" panose="020B0306030504020204"/>
      <p:regular r:id="rId35"/>
    </p:embeddedFont>
    <p:embeddedFont>
      <p:font typeface="Open Sans Light Italics" charset="1" panose="020B0306030504020204"/>
      <p:regular r:id="rId36"/>
    </p:embeddedFont>
    <p:embeddedFont>
      <p:font typeface="Open Sans Ultra-Bold" charset="1" panose="00000000000000000000"/>
      <p:regular r:id="rId37"/>
    </p:embeddedFont>
    <p:embeddedFont>
      <p:font typeface="Open Sans Ultra-Bold Italics" charset="1" panose="00000000000000000000"/>
      <p:regular r:id="rId38"/>
    </p:embeddedFont>
    <p:embeddedFont>
      <p:font typeface="Lato 1" charset="1" panose="020F0502020204030203"/>
      <p:regular r:id="rId39"/>
    </p:embeddedFont>
    <p:embeddedFont>
      <p:font typeface="Lato 1 Bold" charset="1" panose="020F0502020204030203"/>
      <p:regular r:id="rId40"/>
    </p:embeddedFont>
    <p:embeddedFont>
      <p:font typeface="Lato 1 Italics" charset="1" panose="020F0502020204030203"/>
      <p:regular r:id="rId41"/>
    </p:embeddedFont>
    <p:embeddedFont>
      <p:font typeface="Lato 1 Bold Italics" charset="1" panose="020F0502020204030203"/>
      <p:regular r:id="rId42"/>
    </p:embeddedFont>
    <p:embeddedFont>
      <p:font typeface="Lato 1 Thin" charset="1" panose="020F0502020204030203"/>
      <p:regular r:id="rId43"/>
    </p:embeddedFont>
    <p:embeddedFont>
      <p:font typeface="Lato 1 Thin Italics" charset="1" panose="020F0502020204030203"/>
      <p:regular r:id="rId44"/>
    </p:embeddedFont>
    <p:embeddedFont>
      <p:font typeface="Lato 1 Light" charset="1" panose="020F0502020204030203"/>
      <p:regular r:id="rId45"/>
    </p:embeddedFont>
    <p:embeddedFont>
      <p:font typeface="Lato 1 Light Italics" charset="1" panose="020F0502020204030203"/>
      <p:regular r:id="rId46"/>
    </p:embeddedFont>
    <p:embeddedFont>
      <p:font typeface="Lato 1 Heavy" charset="1" panose="020F0502020204030203"/>
      <p:regular r:id="rId47"/>
    </p:embeddedFont>
    <p:embeddedFont>
      <p:font typeface="Lato 1 Heavy Italics" charset="1" panose="020F0502020204030203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slides/slide1.xml" Type="http://schemas.openxmlformats.org/officeDocument/2006/relationships/slide"/><Relationship Id="rId5" Target="tableStyles.xml" Type="http://schemas.openxmlformats.org/officeDocument/2006/relationships/tableStyles"/><Relationship Id="rId50" Target="slides/slide2.xml" Type="http://schemas.openxmlformats.org/officeDocument/2006/relationships/slide"/><Relationship Id="rId51" Target="slides/slide3.xml" Type="http://schemas.openxmlformats.org/officeDocument/2006/relationships/slide"/><Relationship Id="rId52" Target="slides/slide4.xml" Type="http://schemas.openxmlformats.org/officeDocument/2006/relationships/slide"/><Relationship Id="rId53" Target="slides/slide5.xml" Type="http://schemas.openxmlformats.org/officeDocument/2006/relationships/slide"/><Relationship Id="rId54" Target="slides/slide6.xml" Type="http://schemas.openxmlformats.org/officeDocument/2006/relationships/slide"/><Relationship Id="rId55" Target="slides/slide7.xml" Type="http://schemas.openxmlformats.org/officeDocument/2006/relationships/slide"/><Relationship Id="rId56" Target="slides/slide8.xml" Type="http://schemas.openxmlformats.org/officeDocument/2006/relationships/slide"/><Relationship Id="rId57" Target="slides/slide9.xml" Type="http://schemas.openxmlformats.org/officeDocument/2006/relationships/slide"/><Relationship Id="rId58" Target="slides/slide10.xml" Type="http://schemas.openxmlformats.org/officeDocument/2006/relationships/slide"/><Relationship Id="rId59" Target="slides/slide11.xml" Type="http://schemas.openxmlformats.org/officeDocument/2006/relationships/slide"/><Relationship Id="rId6" Target="fonts/font6.fntdata" Type="http://schemas.openxmlformats.org/officeDocument/2006/relationships/font"/><Relationship Id="rId60" Target="slides/slide12.xml" Type="http://schemas.openxmlformats.org/officeDocument/2006/relationships/slide"/><Relationship Id="rId61" Target="slides/slide13.xml" Type="http://schemas.openxmlformats.org/officeDocument/2006/relationships/slide"/><Relationship Id="rId62" Target="slides/slide14.xml" Type="http://schemas.openxmlformats.org/officeDocument/2006/relationships/slide"/><Relationship Id="rId63" Target="slides/slide15.xml" Type="http://schemas.openxmlformats.org/officeDocument/2006/relationships/slide"/><Relationship Id="rId64" Target="slides/slide16.xml" Type="http://schemas.openxmlformats.org/officeDocument/2006/relationships/slide"/><Relationship Id="rId65" Target="slides/slide17.xml" Type="http://schemas.openxmlformats.org/officeDocument/2006/relationships/slide"/><Relationship Id="rId66" Target="slides/slide18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Relationship Id="rId6" Target="../media/image56.png" Type="http://schemas.openxmlformats.org/officeDocument/2006/relationships/image"/><Relationship Id="rId7" Target="../media/image57.svg" Type="http://schemas.openxmlformats.org/officeDocument/2006/relationships/image"/><Relationship Id="rId8" Target="../media/image5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27302" y="5412500"/>
            <a:ext cx="10392169" cy="2306201"/>
            <a:chOff x="0" y="0"/>
            <a:chExt cx="3136958" cy="6961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36959" cy="696145"/>
            </a:xfrm>
            <a:custGeom>
              <a:avLst/>
              <a:gdLst/>
              <a:ahLst/>
              <a:cxnLst/>
              <a:rect r="r" b="b" t="t" l="l"/>
              <a:pathLst>
                <a:path h="696145" w="3136959">
                  <a:moveTo>
                    <a:pt x="2933759" y="0"/>
                  </a:moveTo>
                  <a:lnTo>
                    <a:pt x="203200" y="0"/>
                  </a:lnTo>
                  <a:lnTo>
                    <a:pt x="0" y="348073"/>
                  </a:lnTo>
                  <a:lnTo>
                    <a:pt x="203200" y="696145"/>
                  </a:lnTo>
                  <a:lnTo>
                    <a:pt x="2933759" y="696145"/>
                  </a:lnTo>
                  <a:lnTo>
                    <a:pt x="3136959" y="348073"/>
                  </a:lnTo>
                  <a:lnTo>
                    <a:pt x="2933759" y="0"/>
                  </a:lnTo>
                  <a:close/>
                </a:path>
              </a:pathLst>
            </a:custGeom>
            <a:solidFill>
              <a:srgbClr val="92B2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52400" y="-28575"/>
              <a:ext cx="2832158" cy="724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40241" y="5610229"/>
            <a:ext cx="9603287" cy="190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3"/>
              </a:lnSpc>
            </a:pPr>
            <a:r>
              <a:rPr lang="en-US" sz="6199" spc="378">
                <a:solidFill>
                  <a:srgbClr val="3B3B3B"/>
                </a:solidFill>
                <a:latin typeface="Scripter"/>
              </a:rPr>
              <a:t>sub code: 21AD62</a:t>
            </a:r>
          </a:p>
          <a:p>
            <a:pPr algn="ctr">
              <a:lnSpc>
                <a:spcPts val="7253"/>
              </a:lnSpc>
            </a:pPr>
            <a:r>
              <a:rPr lang="en-US" sz="6199" spc="378">
                <a:solidFill>
                  <a:srgbClr val="3B3B3B"/>
                </a:solidFill>
                <a:latin typeface="Scripter"/>
              </a:rPr>
              <a:t>LEARNING ACTIVITY - 1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3263651">
            <a:off x="15161606" y="6006447"/>
            <a:ext cx="2666122" cy="3519633"/>
          </a:xfrm>
          <a:custGeom>
            <a:avLst/>
            <a:gdLst/>
            <a:ahLst/>
            <a:cxnLst/>
            <a:rect r="r" b="b" t="t" l="l"/>
            <a:pathLst>
              <a:path h="3519633" w="2666122">
                <a:moveTo>
                  <a:pt x="0" y="0"/>
                </a:moveTo>
                <a:lnTo>
                  <a:pt x="2666123" y="0"/>
                </a:lnTo>
                <a:lnTo>
                  <a:pt x="2666123" y="3519633"/>
                </a:lnTo>
                <a:lnTo>
                  <a:pt x="0" y="3519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925265">
            <a:off x="16121253" y="3069685"/>
            <a:ext cx="2867578" cy="2867578"/>
          </a:xfrm>
          <a:custGeom>
            <a:avLst/>
            <a:gdLst/>
            <a:ahLst/>
            <a:cxnLst/>
            <a:rect r="r" b="b" t="t" l="l"/>
            <a:pathLst>
              <a:path h="2867578" w="2867578">
                <a:moveTo>
                  <a:pt x="0" y="0"/>
                </a:moveTo>
                <a:lnTo>
                  <a:pt x="2867579" y="0"/>
                </a:lnTo>
                <a:lnTo>
                  <a:pt x="2867579" y="2867578"/>
                </a:lnTo>
                <a:lnTo>
                  <a:pt x="0" y="2867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48580" y="-594694"/>
            <a:ext cx="5221587" cy="5098168"/>
          </a:xfrm>
          <a:custGeom>
            <a:avLst/>
            <a:gdLst/>
            <a:ahLst/>
            <a:cxnLst/>
            <a:rect r="r" b="b" t="t" l="l"/>
            <a:pathLst>
              <a:path h="5098168" w="5221587">
                <a:moveTo>
                  <a:pt x="0" y="0"/>
                </a:moveTo>
                <a:lnTo>
                  <a:pt x="5221587" y="0"/>
                </a:lnTo>
                <a:lnTo>
                  <a:pt x="5221587" y="5098168"/>
                </a:lnTo>
                <a:lnTo>
                  <a:pt x="0" y="50981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60923" y="1963915"/>
            <a:ext cx="10361922" cy="340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77"/>
              </a:lnSpc>
            </a:pPr>
            <a:r>
              <a:rPr lang="en-US" sz="11814" spc="720">
                <a:solidFill>
                  <a:srgbClr val="E6EFF4"/>
                </a:solidFill>
                <a:latin typeface="Scripter"/>
              </a:rPr>
              <a:t>operating systmes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55207" y="463296"/>
            <a:ext cx="8814405" cy="1092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6"/>
              </a:lnSpc>
            </a:pPr>
            <a:r>
              <a:rPr lang="en-US" sz="3300" spc="600">
                <a:solidFill>
                  <a:srgbClr val="E6EFF4"/>
                </a:solidFill>
                <a:latin typeface="Lato 1 Bold"/>
              </a:rPr>
              <a:t>NITTE MEENAKSHI INSTITUTE OF TECHNOLOGY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36798" y="8095244"/>
            <a:ext cx="9009281" cy="201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5"/>
              </a:lnSpc>
            </a:pPr>
            <a:r>
              <a:rPr lang="en-US" sz="3026" spc="550">
                <a:solidFill>
                  <a:srgbClr val="E6EFF4"/>
                </a:solidFill>
                <a:latin typeface="Lato 1 Bold"/>
              </a:rPr>
              <a:t>BS KEERTHI - 1NT21AD015</a:t>
            </a:r>
          </a:p>
          <a:p>
            <a:pPr algn="ctr">
              <a:lnSpc>
                <a:spcPts val="3995"/>
              </a:lnSpc>
            </a:pPr>
            <a:r>
              <a:rPr lang="en-US" sz="3026" spc="550">
                <a:solidFill>
                  <a:srgbClr val="E6EFF4"/>
                </a:solidFill>
                <a:latin typeface="Lato 1 Bold"/>
              </a:rPr>
              <a:t>6TH SEM</a:t>
            </a:r>
          </a:p>
          <a:p>
            <a:pPr algn="ctr">
              <a:lnSpc>
                <a:spcPts val="3995"/>
              </a:lnSpc>
            </a:pPr>
            <a:r>
              <a:rPr lang="en-US" sz="3026" spc="550">
                <a:solidFill>
                  <a:srgbClr val="E6EFF4"/>
                </a:solidFill>
                <a:latin typeface="Lato 1 Bold"/>
              </a:rPr>
              <a:t>DEPARTMENT OF ARTIFICIAL INTELLIGENCE AND DATA SCIENCE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5400000">
            <a:off x="2886781" y="-1764788"/>
            <a:ext cx="3306919" cy="2781946"/>
          </a:xfrm>
          <a:custGeom>
            <a:avLst/>
            <a:gdLst/>
            <a:ahLst/>
            <a:cxnLst/>
            <a:rect r="r" b="b" t="t" l="l"/>
            <a:pathLst>
              <a:path h="2781946" w="3306919">
                <a:moveTo>
                  <a:pt x="0" y="0"/>
                </a:moveTo>
                <a:lnTo>
                  <a:pt x="3306919" y="0"/>
                </a:lnTo>
                <a:lnTo>
                  <a:pt x="3306919" y="2781946"/>
                </a:lnTo>
                <a:lnTo>
                  <a:pt x="0" y="2781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8032418">
            <a:off x="17048128" y="6327728"/>
            <a:ext cx="3306919" cy="2781946"/>
          </a:xfrm>
          <a:custGeom>
            <a:avLst/>
            <a:gdLst/>
            <a:ahLst/>
            <a:cxnLst/>
            <a:rect r="r" b="b" t="t" l="l"/>
            <a:pathLst>
              <a:path h="2781946" w="3306919">
                <a:moveTo>
                  <a:pt x="0" y="0"/>
                </a:moveTo>
                <a:lnTo>
                  <a:pt x="3306919" y="0"/>
                </a:lnTo>
                <a:lnTo>
                  <a:pt x="3306919" y="2781946"/>
                </a:lnTo>
                <a:lnTo>
                  <a:pt x="0" y="27819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-1211067" y="5088912"/>
            <a:ext cx="3306919" cy="2781946"/>
          </a:xfrm>
          <a:custGeom>
            <a:avLst/>
            <a:gdLst/>
            <a:ahLst/>
            <a:cxnLst/>
            <a:rect r="r" b="b" t="t" l="l"/>
            <a:pathLst>
              <a:path h="2781946" w="3306919">
                <a:moveTo>
                  <a:pt x="0" y="0"/>
                </a:moveTo>
                <a:lnTo>
                  <a:pt x="3306919" y="0"/>
                </a:lnTo>
                <a:lnTo>
                  <a:pt x="3306919" y="2781945"/>
                </a:lnTo>
                <a:lnTo>
                  <a:pt x="0" y="27819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945517">
            <a:off x="13579091" y="8789680"/>
            <a:ext cx="3306919" cy="2781946"/>
          </a:xfrm>
          <a:custGeom>
            <a:avLst/>
            <a:gdLst/>
            <a:ahLst/>
            <a:cxnLst/>
            <a:rect r="r" b="b" t="t" l="l"/>
            <a:pathLst>
              <a:path h="2781946" w="3306919">
                <a:moveTo>
                  <a:pt x="0" y="0"/>
                </a:moveTo>
                <a:lnTo>
                  <a:pt x="3306919" y="0"/>
                </a:lnTo>
                <a:lnTo>
                  <a:pt x="3306919" y="2781946"/>
                </a:lnTo>
                <a:lnTo>
                  <a:pt x="0" y="2781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00162" y="2815708"/>
            <a:ext cx="10059138" cy="5867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7799"/>
              </a:lnSpc>
            </a:pPr>
            <a:r>
              <a:rPr lang="en-US" sz="5999">
                <a:solidFill>
                  <a:srgbClr val="343434"/>
                </a:solidFill>
                <a:latin typeface="Lato 1 Italics"/>
              </a:rPr>
              <a:t>What are the two models of inter-process communication? </a:t>
            </a:r>
          </a:p>
          <a:p>
            <a:pPr>
              <a:lnSpc>
                <a:spcPts val="7799"/>
              </a:lnSpc>
            </a:pPr>
          </a:p>
          <a:p>
            <a:pPr algn="l">
              <a:lnSpc>
                <a:spcPts val="7799"/>
              </a:lnSpc>
            </a:pPr>
            <a:r>
              <a:rPr lang="en-US" sz="5999">
                <a:solidFill>
                  <a:srgbClr val="343434"/>
                </a:solidFill>
                <a:latin typeface="Lato 1 Italics"/>
              </a:rPr>
              <a:t>What are the strengths and weaknesses of the two approaches?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441559"/>
            <a:ext cx="5358020" cy="7816741"/>
          </a:xfrm>
          <a:custGeom>
            <a:avLst/>
            <a:gdLst/>
            <a:ahLst/>
            <a:cxnLst/>
            <a:rect r="r" b="b" t="t" l="l"/>
            <a:pathLst>
              <a:path h="7816741" w="5358020">
                <a:moveTo>
                  <a:pt x="0" y="0"/>
                </a:moveTo>
                <a:lnTo>
                  <a:pt x="5358020" y="0"/>
                </a:lnTo>
                <a:lnTo>
                  <a:pt x="5358020" y="7816741"/>
                </a:lnTo>
                <a:lnTo>
                  <a:pt x="0" y="7816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70707" y="933450"/>
            <a:ext cx="569860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spc="488">
                <a:solidFill>
                  <a:srgbClr val="343434"/>
                </a:solidFill>
                <a:latin typeface="Scripter"/>
              </a:rPr>
              <a:t>Topic 1: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D4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2561" y="2908305"/>
            <a:ext cx="11293798" cy="721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199"/>
              </a:lnSpc>
            </a:pPr>
            <a:r>
              <a:rPr lang="en-US" sz="3999">
                <a:solidFill>
                  <a:srgbClr val="3B3B3B"/>
                </a:solidFill>
                <a:latin typeface="Lato 1"/>
              </a:rPr>
              <a:t>Inter-process communication (IPC) is a mechanism that allows processes to communicate with each other and synchronize their actions.</a:t>
            </a:r>
          </a:p>
          <a:p>
            <a:pPr>
              <a:lnSpc>
                <a:spcPts val="5199"/>
              </a:lnSpc>
            </a:pPr>
          </a:p>
          <a:p>
            <a:pPr>
              <a:lnSpc>
                <a:spcPts val="5199"/>
              </a:lnSpc>
            </a:pPr>
            <a:r>
              <a:rPr lang="en-US" sz="3999">
                <a:solidFill>
                  <a:srgbClr val="3B3B3B"/>
                </a:solidFill>
                <a:latin typeface="Lato 1"/>
              </a:rPr>
              <a:t>Processes executing concurrently in the operating system may be either </a:t>
            </a:r>
            <a:r>
              <a:rPr lang="en-US" sz="3999">
                <a:solidFill>
                  <a:srgbClr val="3B3B3B"/>
                </a:solidFill>
                <a:latin typeface="Lato 1 Bold Italics"/>
              </a:rPr>
              <a:t>Independent processes</a:t>
            </a:r>
            <a:r>
              <a:rPr lang="en-US" sz="3999">
                <a:solidFill>
                  <a:srgbClr val="3B3B3B"/>
                </a:solidFill>
                <a:latin typeface="Lato 1"/>
              </a:rPr>
              <a:t> if it cannot affect or be affected by the other processes executing in the system nor a process is </a:t>
            </a:r>
            <a:r>
              <a:rPr lang="en-US" sz="3999">
                <a:solidFill>
                  <a:srgbClr val="3B3B3B"/>
                </a:solidFill>
                <a:latin typeface="Lato 1 Bold Italics"/>
              </a:rPr>
              <a:t>Cooperating processes</a:t>
            </a:r>
            <a:r>
              <a:rPr lang="en-US" sz="3999">
                <a:solidFill>
                  <a:srgbClr val="3B3B3B"/>
                </a:solidFill>
                <a:latin typeface="Lato 1"/>
              </a:rPr>
              <a:t> if it can affect or be affected by the other processes executing in the system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18240"/>
            <a:ext cx="10081763" cy="2372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9041"/>
              </a:lnSpc>
              <a:spcBef>
                <a:spcPct val="0"/>
              </a:spcBef>
            </a:pPr>
            <a:r>
              <a:rPr lang="en-US" sz="7534" spc="459">
                <a:solidFill>
                  <a:srgbClr val="3B3B3B"/>
                </a:solidFill>
                <a:latin typeface="Scripter"/>
              </a:rPr>
              <a:t>what is inter-process communication?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093235">
            <a:off x="12440102" y="4099790"/>
            <a:ext cx="6537838" cy="6849164"/>
          </a:xfrm>
          <a:custGeom>
            <a:avLst/>
            <a:gdLst/>
            <a:ahLst/>
            <a:cxnLst/>
            <a:rect r="r" b="b" t="t" l="l"/>
            <a:pathLst>
              <a:path h="6849164" w="6537838">
                <a:moveTo>
                  <a:pt x="0" y="0"/>
                </a:moveTo>
                <a:lnTo>
                  <a:pt x="6537838" y="0"/>
                </a:lnTo>
                <a:lnTo>
                  <a:pt x="6537838" y="6849163"/>
                </a:lnTo>
                <a:lnTo>
                  <a:pt x="0" y="6849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263651">
            <a:off x="12606650" y="3112722"/>
            <a:ext cx="2666122" cy="3519633"/>
          </a:xfrm>
          <a:custGeom>
            <a:avLst/>
            <a:gdLst/>
            <a:ahLst/>
            <a:cxnLst/>
            <a:rect r="r" b="b" t="t" l="l"/>
            <a:pathLst>
              <a:path h="3519633" w="2666122">
                <a:moveTo>
                  <a:pt x="0" y="0"/>
                </a:moveTo>
                <a:lnTo>
                  <a:pt x="2666122" y="0"/>
                </a:lnTo>
                <a:lnTo>
                  <a:pt x="2666122" y="3519633"/>
                </a:lnTo>
                <a:lnTo>
                  <a:pt x="0" y="35196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925265">
            <a:off x="14482333" y="1330340"/>
            <a:ext cx="2867578" cy="2867578"/>
          </a:xfrm>
          <a:custGeom>
            <a:avLst/>
            <a:gdLst/>
            <a:ahLst/>
            <a:cxnLst/>
            <a:rect r="r" b="b" t="t" l="l"/>
            <a:pathLst>
              <a:path h="2867578" w="2867578">
                <a:moveTo>
                  <a:pt x="0" y="0"/>
                </a:moveTo>
                <a:lnTo>
                  <a:pt x="2867578" y="0"/>
                </a:lnTo>
                <a:lnTo>
                  <a:pt x="2867578" y="2867579"/>
                </a:lnTo>
                <a:lnTo>
                  <a:pt x="0" y="2867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2286252" y="-796532"/>
            <a:ext cx="3306919" cy="2781946"/>
          </a:xfrm>
          <a:custGeom>
            <a:avLst/>
            <a:gdLst/>
            <a:ahLst/>
            <a:cxnLst/>
            <a:rect r="r" b="b" t="t" l="l"/>
            <a:pathLst>
              <a:path h="2781946" w="3306919">
                <a:moveTo>
                  <a:pt x="0" y="0"/>
                </a:moveTo>
                <a:lnTo>
                  <a:pt x="3306919" y="0"/>
                </a:lnTo>
                <a:lnTo>
                  <a:pt x="3306919" y="2781945"/>
                </a:lnTo>
                <a:lnTo>
                  <a:pt x="0" y="27819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164406">
            <a:off x="16996813" y="1900787"/>
            <a:ext cx="3306919" cy="2781946"/>
          </a:xfrm>
          <a:custGeom>
            <a:avLst/>
            <a:gdLst/>
            <a:ahLst/>
            <a:cxnLst/>
            <a:rect r="r" b="b" t="t" l="l"/>
            <a:pathLst>
              <a:path h="2781946" w="3306919">
                <a:moveTo>
                  <a:pt x="0" y="0"/>
                </a:moveTo>
                <a:lnTo>
                  <a:pt x="3306919" y="0"/>
                </a:lnTo>
                <a:lnTo>
                  <a:pt x="3306919" y="2781945"/>
                </a:lnTo>
                <a:lnTo>
                  <a:pt x="0" y="27819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49769"/>
            <a:ext cx="13655610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spc="488">
                <a:solidFill>
                  <a:srgbClr val="343434"/>
                </a:solidFill>
                <a:latin typeface="Scripter"/>
              </a:rPr>
              <a:t>Reasons for cooperating processes: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427259" y="3192994"/>
            <a:ext cx="9705760" cy="1380744"/>
            <a:chOff x="0" y="0"/>
            <a:chExt cx="2083183" cy="2963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3183" cy="296354"/>
            </a:xfrm>
            <a:custGeom>
              <a:avLst/>
              <a:gdLst/>
              <a:ahLst/>
              <a:cxnLst/>
              <a:rect r="r" b="b" t="t" l="l"/>
              <a:pathLst>
                <a:path h="296354" w="2083183">
                  <a:moveTo>
                    <a:pt x="1879983" y="0"/>
                  </a:moveTo>
                  <a:lnTo>
                    <a:pt x="0" y="0"/>
                  </a:lnTo>
                  <a:lnTo>
                    <a:pt x="0" y="296354"/>
                  </a:lnTo>
                  <a:lnTo>
                    <a:pt x="1879983" y="296354"/>
                  </a:lnTo>
                  <a:lnTo>
                    <a:pt x="2083183" y="148177"/>
                  </a:lnTo>
                  <a:lnTo>
                    <a:pt x="1879983" y="0"/>
                  </a:lnTo>
                  <a:close/>
                </a:path>
              </a:pathLst>
            </a:custGeom>
            <a:solidFill>
              <a:srgbClr val="C492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968883" cy="324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225067" y="3361349"/>
            <a:ext cx="5453541" cy="72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9"/>
              </a:lnSpc>
            </a:pPr>
            <a:r>
              <a:rPr lang="en-US" sz="4499">
                <a:solidFill>
                  <a:srgbClr val="3B3B3B"/>
                </a:solidFill>
                <a:latin typeface="Lato 1 Bold Italics"/>
              </a:rPr>
              <a:t>Information sharing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427259" y="6777610"/>
            <a:ext cx="9705760" cy="1380744"/>
            <a:chOff x="0" y="0"/>
            <a:chExt cx="2083183" cy="2963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3183" cy="296354"/>
            </a:xfrm>
            <a:custGeom>
              <a:avLst/>
              <a:gdLst/>
              <a:ahLst/>
              <a:cxnLst/>
              <a:rect r="r" b="b" t="t" l="l"/>
              <a:pathLst>
                <a:path h="296354" w="2083183">
                  <a:moveTo>
                    <a:pt x="1879983" y="0"/>
                  </a:moveTo>
                  <a:lnTo>
                    <a:pt x="0" y="0"/>
                  </a:lnTo>
                  <a:lnTo>
                    <a:pt x="0" y="296354"/>
                  </a:lnTo>
                  <a:lnTo>
                    <a:pt x="1879983" y="296354"/>
                  </a:lnTo>
                  <a:lnTo>
                    <a:pt x="2083183" y="148177"/>
                  </a:lnTo>
                  <a:lnTo>
                    <a:pt x="1879983" y="0"/>
                  </a:lnTo>
                  <a:close/>
                </a:path>
              </a:pathLst>
            </a:custGeom>
            <a:solidFill>
              <a:srgbClr val="C492B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968883" cy="324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225067" y="7118710"/>
            <a:ext cx="5453541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4500">
                <a:solidFill>
                  <a:srgbClr val="3B3B3B"/>
                </a:solidFill>
                <a:latin typeface="Lato 1 Bold Italics"/>
              </a:rPr>
              <a:t>Modularity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427259" y="4983313"/>
            <a:ext cx="9705760" cy="1380744"/>
            <a:chOff x="0" y="0"/>
            <a:chExt cx="2083183" cy="2963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83183" cy="296354"/>
            </a:xfrm>
            <a:custGeom>
              <a:avLst/>
              <a:gdLst/>
              <a:ahLst/>
              <a:cxnLst/>
              <a:rect r="r" b="b" t="t" l="l"/>
              <a:pathLst>
                <a:path h="296354" w="2083183">
                  <a:moveTo>
                    <a:pt x="1879983" y="0"/>
                  </a:moveTo>
                  <a:lnTo>
                    <a:pt x="0" y="0"/>
                  </a:lnTo>
                  <a:lnTo>
                    <a:pt x="0" y="296354"/>
                  </a:lnTo>
                  <a:lnTo>
                    <a:pt x="1879983" y="296354"/>
                  </a:lnTo>
                  <a:lnTo>
                    <a:pt x="2083183" y="148177"/>
                  </a:lnTo>
                  <a:lnTo>
                    <a:pt x="1879983" y="0"/>
                  </a:lnTo>
                  <a:close/>
                </a:path>
              </a:pathLst>
            </a:custGeom>
            <a:solidFill>
              <a:srgbClr val="FDD48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968883" cy="324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088928" y="5283161"/>
            <a:ext cx="611014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4500">
                <a:solidFill>
                  <a:srgbClr val="3B3B3B"/>
                </a:solidFill>
                <a:latin typeface="Lato 1 Bold Italics"/>
              </a:rPr>
              <a:t>Computation speedup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427259" y="8571908"/>
            <a:ext cx="9705760" cy="1380744"/>
            <a:chOff x="0" y="0"/>
            <a:chExt cx="2083183" cy="2963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3183" cy="296354"/>
            </a:xfrm>
            <a:custGeom>
              <a:avLst/>
              <a:gdLst/>
              <a:ahLst/>
              <a:cxnLst/>
              <a:rect r="r" b="b" t="t" l="l"/>
              <a:pathLst>
                <a:path h="296354" w="2083183">
                  <a:moveTo>
                    <a:pt x="1879983" y="0"/>
                  </a:moveTo>
                  <a:lnTo>
                    <a:pt x="0" y="0"/>
                  </a:lnTo>
                  <a:lnTo>
                    <a:pt x="0" y="296354"/>
                  </a:lnTo>
                  <a:lnTo>
                    <a:pt x="1879983" y="296354"/>
                  </a:lnTo>
                  <a:lnTo>
                    <a:pt x="2083183" y="148177"/>
                  </a:lnTo>
                  <a:lnTo>
                    <a:pt x="1879983" y="0"/>
                  </a:lnTo>
                  <a:close/>
                </a:path>
              </a:pathLst>
            </a:custGeom>
            <a:solidFill>
              <a:srgbClr val="FDD48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968883" cy="324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225067" y="8836829"/>
            <a:ext cx="5453541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4500">
                <a:solidFill>
                  <a:srgbClr val="3B3B3B"/>
                </a:solidFill>
                <a:latin typeface="Lato 1 Bold Italics"/>
              </a:rPr>
              <a:t>Convenience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22535" y="3170849"/>
            <a:ext cx="731749" cy="99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1">
              <a:lnSpc>
                <a:spcPts val="7849"/>
              </a:lnSpc>
              <a:spcBef>
                <a:spcPct val="0"/>
              </a:spcBef>
            </a:pPr>
            <a:r>
              <a:rPr lang="en-US" sz="4999" u="none">
                <a:solidFill>
                  <a:srgbClr val="3B3B3B"/>
                </a:solidFill>
                <a:latin typeface="Scripter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22535" y="5098034"/>
            <a:ext cx="731749" cy="99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1">
              <a:lnSpc>
                <a:spcPts val="7849"/>
              </a:lnSpc>
              <a:spcBef>
                <a:spcPct val="0"/>
              </a:spcBef>
            </a:pPr>
            <a:r>
              <a:rPr lang="en-US" sz="4999">
                <a:solidFill>
                  <a:srgbClr val="3B3B3B"/>
                </a:solidFill>
                <a:latin typeface="Scripter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22535" y="6893284"/>
            <a:ext cx="731749" cy="99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1">
              <a:lnSpc>
                <a:spcPts val="7849"/>
              </a:lnSpc>
              <a:spcBef>
                <a:spcPct val="0"/>
              </a:spcBef>
            </a:pPr>
            <a:r>
              <a:rPr lang="en-US" sz="4999">
                <a:solidFill>
                  <a:srgbClr val="3B3B3B"/>
                </a:solidFill>
                <a:latin typeface="Scripter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22535" y="8646329"/>
            <a:ext cx="731749" cy="99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1">
              <a:lnSpc>
                <a:spcPts val="7849"/>
              </a:lnSpc>
              <a:spcBef>
                <a:spcPct val="0"/>
              </a:spcBef>
            </a:pPr>
            <a:r>
              <a:rPr lang="en-US" sz="4999">
                <a:solidFill>
                  <a:srgbClr val="3B3B3B"/>
                </a:solidFill>
                <a:latin typeface="Scripter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664505" y="-2236362"/>
            <a:ext cx="9654592" cy="5983473"/>
            <a:chOff x="0" y="0"/>
            <a:chExt cx="12872789" cy="7977964"/>
          </a:xfrm>
        </p:grpSpPr>
        <p:sp>
          <p:nvSpPr>
            <p:cNvPr name="Freeform 24" id="24"/>
            <p:cNvSpPr/>
            <p:nvPr/>
          </p:nvSpPr>
          <p:spPr>
            <a:xfrm flipH="false" flipV="false" rot="1254322">
              <a:off x="490275" y="952090"/>
              <a:ext cx="6049290" cy="3863984"/>
            </a:xfrm>
            <a:custGeom>
              <a:avLst/>
              <a:gdLst/>
              <a:ahLst/>
              <a:cxnLst/>
              <a:rect r="r" b="b" t="t" l="l"/>
              <a:pathLst>
                <a:path h="3863984" w="6049290">
                  <a:moveTo>
                    <a:pt x="0" y="0"/>
                  </a:moveTo>
                  <a:lnTo>
                    <a:pt x="6049290" y="0"/>
                  </a:lnTo>
                  <a:lnTo>
                    <a:pt x="6049290" y="3863984"/>
                  </a:lnTo>
                  <a:lnTo>
                    <a:pt x="0" y="386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-9805223">
              <a:off x="6397962" y="3331230"/>
              <a:ext cx="6049290" cy="3863984"/>
            </a:xfrm>
            <a:custGeom>
              <a:avLst/>
              <a:gdLst/>
              <a:ahLst/>
              <a:cxnLst/>
              <a:rect r="r" b="b" t="t" l="l"/>
              <a:pathLst>
                <a:path h="3863984" w="6049290">
                  <a:moveTo>
                    <a:pt x="0" y="0"/>
                  </a:moveTo>
                  <a:lnTo>
                    <a:pt x="6049290" y="0"/>
                  </a:lnTo>
                  <a:lnTo>
                    <a:pt x="6049290" y="3863985"/>
                  </a:lnTo>
                  <a:lnTo>
                    <a:pt x="0" y="3863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8032752">
            <a:off x="18451067" y="3285587"/>
            <a:ext cx="4536968" cy="2897988"/>
          </a:xfrm>
          <a:custGeom>
            <a:avLst/>
            <a:gdLst/>
            <a:ahLst/>
            <a:cxnLst/>
            <a:rect r="r" b="b" t="t" l="l"/>
            <a:pathLst>
              <a:path h="2897988" w="4536968">
                <a:moveTo>
                  <a:pt x="0" y="0"/>
                </a:moveTo>
                <a:lnTo>
                  <a:pt x="4536968" y="0"/>
                </a:lnTo>
                <a:lnTo>
                  <a:pt x="4536968" y="2897988"/>
                </a:lnTo>
                <a:lnTo>
                  <a:pt x="0" y="2897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9805223">
            <a:off x="-2489610" y="8439197"/>
            <a:ext cx="4536968" cy="2897988"/>
          </a:xfrm>
          <a:custGeom>
            <a:avLst/>
            <a:gdLst/>
            <a:ahLst/>
            <a:cxnLst/>
            <a:rect r="r" b="b" t="t" l="l"/>
            <a:pathLst>
              <a:path h="2897988" w="4536968">
                <a:moveTo>
                  <a:pt x="0" y="0"/>
                </a:moveTo>
                <a:lnTo>
                  <a:pt x="4536968" y="0"/>
                </a:lnTo>
                <a:lnTo>
                  <a:pt x="4536968" y="2897989"/>
                </a:lnTo>
                <a:lnTo>
                  <a:pt x="0" y="28979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88040" y="2481266"/>
            <a:ext cx="9406910" cy="7805734"/>
          </a:xfrm>
          <a:custGeom>
            <a:avLst/>
            <a:gdLst/>
            <a:ahLst/>
            <a:cxnLst/>
            <a:rect r="r" b="b" t="t" l="l"/>
            <a:pathLst>
              <a:path h="7805734" w="9406910">
                <a:moveTo>
                  <a:pt x="0" y="0"/>
                </a:moveTo>
                <a:lnTo>
                  <a:pt x="9406910" y="0"/>
                </a:lnTo>
                <a:lnTo>
                  <a:pt x="9406910" y="7805734"/>
                </a:lnTo>
                <a:lnTo>
                  <a:pt x="0" y="7805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29142" y="-76200"/>
            <a:ext cx="13324706" cy="229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753"/>
              </a:lnSpc>
            </a:pPr>
            <a:r>
              <a:rPr lang="en-US" sz="7294" spc="444">
                <a:solidFill>
                  <a:srgbClr val="343434"/>
                </a:solidFill>
                <a:latin typeface="Scripter"/>
              </a:rPr>
              <a:t>fundamental models of </a:t>
            </a:r>
          </a:p>
          <a:p>
            <a:pPr marL="0" indent="0" lvl="0">
              <a:lnSpc>
                <a:spcPts val="8753"/>
              </a:lnSpc>
              <a:spcBef>
                <a:spcPct val="0"/>
              </a:spcBef>
            </a:pPr>
            <a:r>
              <a:rPr lang="en-US" sz="7294" spc="444">
                <a:solidFill>
                  <a:srgbClr val="343434"/>
                </a:solidFill>
                <a:latin typeface="Scripter"/>
              </a:rPr>
              <a:t>inter-process communication: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02932" y="4764098"/>
            <a:ext cx="6479074" cy="71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5279"/>
              </a:lnSpc>
              <a:spcBef>
                <a:spcPct val="0"/>
              </a:spcBef>
            </a:pPr>
            <a:r>
              <a:rPr lang="en-US" sz="4399" spc="268">
                <a:solidFill>
                  <a:srgbClr val="343434"/>
                </a:solidFill>
                <a:latin typeface="Scripter"/>
              </a:rPr>
              <a:t>shared memory systems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02932" y="8851372"/>
            <a:ext cx="7257335" cy="734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5480"/>
              </a:lnSpc>
              <a:spcBef>
                <a:spcPct val="0"/>
              </a:spcBef>
            </a:pPr>
            <a:r>
              <a:rPr lang="en-US" sz="4567" spc="278">
                <a:solidFill>
                  <a:srgbClr val="343434"/>
                </a:solidFill>
                <a:latin typeface="Scripter"/>
              </a:rPr>
              <a:t>Message-Passing Systems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21089" y="2400757"/>
            <a:ext cx="8115300" cy="7821120"/>
          </a:xfrm>
          <a:custGeom>
            <a:avLst/>
            <a:gdLst/>
            <a:ahLst/>
            <a:cxnLst/>
            <a:rect r="r" b="b" t="t" l="l"/>
            <a:pathLst>
              <a:path h="7821120" w="8115300">
                <a:moveTo>
                  <a:pt x="0" y="0"/>
                </a:moveTo>
                <a:lnTo>
                  <a:pt x="8115300" y="0"/>
                </a:lnTo>
                <a:lnTo>
                  <a:pt x="8115300" y="7821120"/>
                </a:lnTo>
                <a:lnTo>
                  <a:pt x="0" y="7821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87986" y="3275508"/>
            <a:ext cx="6608948" cy="5875626"/>
          </a:xfrm>
          <a:custGeom>
            <a:avLst/>
            <a:gdLst/>
            <a:ahLst/>
            <a:cxnLst/>
            <a:rect r="r" b="b" t="t" l="l"/>
            <a:pathLst>
              <a:path h="5875626" w="6608948">
                <a:moveTo>
                  <a:pt x="0" y="0"/>
                </a:moveTo>
                <a:lnTo>
                  <a:pt x="6608947" y="0"/>
                </a:lnTo>
                <a:lnTo>
                  <a:pt x="6608947" y="5875626"/>
                </a:lnTo>
                <a:lnTo>
                  <a:pt x="0" y="5875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-76200"/>
            <a:ext cx="16675964" cy="229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753"/>
              </a:lnSpc>
            </a:pPr>
            <a:r>
              <a:rPr lang="en-US" sz="7294" spc="444">
                <a:solidFill>
                  <a:srgbClr val="343434"/>
                </a:solidFill>
                <a:latin typeface="Scripter"/>
              </a:rPr>
              <a:t>fundamental models of </a:t>
            </a:r>
          </a:p>
          <a:p>
            <a:pPr marL="0" indent="0" lvl="0">
              <a:lnSpc>
                <a:spcPts val="8753"/>
              </a:lnSpc>
              <a:spcBef>
                <a:spcPct val="0"/>
              </a:spcBef>
            </a:pPr>
            <a:r>
              <a:rPr lang="en-US" sz="7294" spc="444">
                <a:solidFill>
                  <a:srgbClr val="343434"/>
                </a:solidFill>
                <a:latin typeface="Scripter"/>
              </a:rPr>
              <a:t>inter-process communication: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3269" y="2746261"/>
            <a:ext cx="7400274" cy="791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6" indent="-377823" lvl="1">
              <a:lnSpc>
                <a:spcPts val="4549"/>
              </a:lnSpc>
              <a:buAutoNum type="arabicPeriod" startAt="1"/>
            </a:pPr>
            <a:r>
              <a:rPr lang="en-US" sz="3499">
                <a:solidFill>
                  <a:srgbClr val="343434"/>
                </a:solidFill>
                <a:latin typeface="Lato 1 Semi-Bold"/>
              </a:rPr>
              <a:t>Shared Memory</a:t>
            </a:r>
            <a:r>
              <a:rPr lang="en-US" sz="3499">
                <a:solidFill>
                  <a:srgbClr val="343434"/>
                </a:solidFill>
                <a:latin typeface="Lato 1"/>
              </a:rPr>
              <a:t>: In this model, two or more processes share a common portion of memory. This shared memory region acts as a medium through which processes can exchange data directly using their </a:t>
            </a:r>
            <a:r>
              <a:rPr lang="en-US" sz="3499" u="sng">
                <a:solidFill>
                  <a:srgbClr val="343434"/>
                </a:solidFill>
                <a:latin typeface="Lato 1"/>
              </a:rPr>
              <a:t>address space</a:t>
            </a:r>
            <a:r>
              <a:rPr lang="en-US" sz="3499">
                <a:solidFill>
                  <a:srgbClr val="343434"/>
                </a:solidFill>
                <a:latin typeface="Lato 1"/>
              </a:rPr>
              <a:t> without involving the operating system kernel. </a:t>
            </a:r>
          </a:p>
          <a:p>
            <a:pPr>
              <a:lnSpc>
                <a:spcPts val="4549"/>
              </a:lnSpc>
            </a:pPr>
            <a:r>
              <a:rPr lang="en-US" sz="3499">
                <a:solidFill>
                  <a:srgbClr val="343434"/>
                </a:solidFill>
                <a:latin typeface="Lato 1"/>
              </a:rPr>
              <a:t>To coordinate access and avoid conflicts, processes typically use synchronization mechanisms such as semaphores, mutexes, or monitors.</a:t>
            </a:r>
          </a:p>
          <a:p>
            <a:pPr algn="l">
              <a:lnSpc>
                <a:spcPts val="38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02616" y="0"/>
            <a:ext cx="3685384" cy="3719195"/>
          </a:xfrm>
          <a:custGeom>
            <a:avLst/>
            <a:gdLst/>
            <a:ahLst/>
            <a:cxnLst/>
            <a:rect r="r" b="b" t="t" l="l"/>
            <a:pathLst>
              <a:path h="3719195" w="3685384">
                <a:moveTo>
                  <a:pt x="0" y="0"/>
                </a:moveTo>
                <a:lnTo>
                  <a:pt x="3685384" y="0"/>
                </a:lnTo>
                <a:lnTo>
                  <a:pt x="3685384" y="3719195"/>
                </a:lnTo>
                <a:lnTo>
                  <a:pt x="0" y="3719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7553" y="1636977"/>
            <a:ext cx="14648574" cy="628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343434"/>
                </a:solidFill>
                <a:latin typeface="Lato 1 Bold Italics"/>
              </a:rPr>
              <a:t>Shared Memory Setup:</a:t>
            </a:r>
            <a:r>
              <a:rPr lang="en-US" sz="3500">
                <a:solidFill>
                  <a:srgbClr val="343434"/>
                </a:solidFill>
                <a:latin typeface="Lato 1"/>
              </a:rPr>
              <a:t> Processes establish a region of shared memory within their address space.</a:t>
            </a:r>
          </a:p>
          <a:p>
            <a:pPr algn="just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343434"/>
                </a:solidFill>
                <a:latin typeface="Lato 1 Bold Italics"/>
              </a:rPr>
              <a:t>Address Space Attachment: </a:t>
            </a:r>
            <a:r>
              <a:rPr lang="en-US" sz="3500">
                <a:solidFill>
                  <a:srgbClr val="343434"/>
                </a:solidFill>
                <a:latin typeface="Lato 1"/>
              </a:rPr>
              <a:t>Other processes wishing to communicate must attach this shared memory region to their address space.</a:t>
            </a:r>
          </a:p>
          <a:p>
            <a:pPr algn="just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343434"/>
                </a:solidFill>
                <a:latin typeface="Lato 1 Bold Italics"/>
              </a:rPr>
              <a:t>Operating System Constraints:</a:t>
            </a:r>
            <a:r>
              <a:rPr lang="en-US" sz="3500">
                <a:solidFill>
                  <a:srgbClr val="343434"/>
                </a:solidFill>
                <a:latin typeface="Lato 1"/>
              </a:rPr>
              <a:t> Normally, OS prevents direct memory access between processes.</a:t>
            </a:r>
          </a:p>
          <a:p>
            <a:pPr algn="just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343434"/>
                </a:solidFill>
                <a:latin typeface="Lato 1 Bold Italics"/>
              </a:rPr>
              <a:t>Agreement and Access:</a:t>
            </a:r>
            <a:r>
              <a:rPr lang="en-US" sz="3500">
                <a:solidFill>
                  <a:srgbClr val="343434"/>
                </a:solidFill>
                <a:latin typeface="Lato 1"/>
              </a:rPr>
              <a:t> Processes must agree to remove this restriction to exchange data by reading and writing in shared areas.</a:t>
            </a:r>
          </a:p>
          <a:p>
            <a:pPr algn="just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343434"/>
                </a:solidFill>
                <a:latin typeface="Lato 1 Bold Italics"/>
              </a:rPr>
              <a:t>Responsibility of Processes:</a:t>
            </a:r>
            <a:r>
              <a:rPr lang="en-US" sz="3500">
                <a:solidFill>
                  <a:srgbClr val="343434"/>
                </a:solidFill>
                <a:latin typeface="Lato 1"/>
              </a:rPr>
              <a:t> Data format and location are determined by processes, not the OS. Processes must ensure they don't overwrite to the same location simultaneously.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3681"/>
            <a:ext cx="9874981" cy="1078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8047"/>
              </a:lnSpc>
              <a:spcBef>
                <a:spcPct val="0"/>
              </a:spcBef>
            </a:pPr>
            <a:r>
              <a:rPr lang="en-US" sz="6705" spc="409">
                <a:solidFill>
                  <a:srgbClr val="343434"/>
                </a:solidFill>
                <a:latin typeface="Scripter"/>
              </a:rPr>
              <a:t>shared memory systems: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8083312"/>
            <a:ext cx="3431401" cy="1125220"/>
            <a:chOff x="0" y="0"/>
            <a:chExt cx="903743" cy="2963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3743" cy="296354"/>
            </a:xfrm>
            <a:custGeom>
              <a:avLst/>
              <a:gdLst/>
              <a:ahLst/>
              <a:cxnLst/>
              <a:rect r="r" b="b" t="t" l="l"/>
              <a:pathLst>
                <a:path h="296354" w="903743">
                  <a:moveTo>
                    <a:pt x="700543" y="0"/>
                  </a:moveTo>
                  <a:lnTo>
                    <a:pt x="0" y="0"/>
                  </a:lnTo>
                  <a:lnTo>
                    <a:pt x="0" y="296354"/>
                  </a:lnTo>
                  <a:lnTo>
                    <a:pt x="700543" y="296354"/>
                  </a:lnTo>
                  <a:lnTo>
                    <a:pt x="903743" y="148177"/>
                  </a:lnTo>
                  <a:lnTo>
                    <a:pt x="700543" y="0"/>
                  </a:lnTo>
                  <a:close/>
                </a:path>
              </a:pathLst>
            </a:custGeom>
            <a:solidFill>
              <a:srgbClr val="C492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789443" cy="324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7625" y="8196144"/>
            <a:ext cx="2993206" cy="842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6248"/>
              </a:lnSpc>
              <a:spcBef>
                <a:spcPct val="0"/>
              </a:spcBef>
            </a:pPr>
            <a:r>
              <a:rPr lang="en-US" sz="5206" spc="317">
                <a:solidFill>
                  <a:srgbClr val="343434"/>
                </a:solidFill>
                <a:latin typeface="Scripter Semi-Bold"/>
              </a:rPr>
              <a:t>Scenario</a:t>
            </a:r>
            <a:r>
              <a:rPr lang="en-US" sz="5206" spc="317">
                <a:solidFill>
                  <a:srgbClr val="343434"/>
                </a:solidFill>
                <a:latin typeface="Scripter"/>
              </a:rPr>
              <a:t>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39426" y="8335407"/>
            <a:ext cx="14648574" cy="170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0"/>
              </a:lnSpc>
            </a:pPr>
            <a:r>
              <a:rPr lang="en-US" sz="3500">
                <a:solidFill>
                  <a:srgbClr val="343434"/>
                </a:solidFill>
                <a:latin typeface="Lato 1 Italics"/>
              </a:rPr>
              <a:t>Let's consider the </a:t>
            </a:r>
            <a:r>
              <a:rPr lang="en-US" sz="3500" u="sng">
                <a:solidFill>
                  <a:srgbClr val="343434"/>
                </a:solidFill>
                <a:latin typeface="Lato 1 Italics"/>
              </a:rPr>
              <a:t>PRODUCER-CONSUMER PROBLEM</a:t>
            </a:r>
            <a:r>
              <a:rPr lang="en-US" sz="3500">
                <a:solidFill>
                  <a:srgbClr val="343434"/>
                </a:solidFill>
                <a:latin typeface="Lato 1 Italics"/>
              </a:rPr>
              <a:t>, which is a common paradigm for cooperating processes. A producer process produces information that is consumed by a consumer process.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57012" y="251257"/>
            <a:ext cx="8373976" cy="9784487"/>
          </a:xfrm>
          <a:custGeom>
            <a:avLst/>
            <a:gdLst/>
            <a:ahLst/>
            <a:cxnLst/>
            <a:rect r="r" b="b" t="t" l="l"/>
            <a:pathLst>
              <a:path h="9784487" w="8373976">
                <a:moveTo>
                  <a:pt x="0" y="0"/>
                </a:moveTo>
                <a:lnTo>
                  <a:pt x="8373976" y="0"/>
                </a:lnTo>
                <a:lnTo>
                  <a:pt x="8373976" y="9784486"/>
                </a:lnTo>
                <a:lnTo>
                  <a:pt x="0" y="978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26576" y="1311236"/>
            <a:ext cx="3832264" cy="3832264"/>
          </a:xfrm>
          <a:custGeom>
            <a:avLst/>
            <a:gdLst/>
            <a:ahLst/>
            <a:cxnLst/>
            <a:rect r="r" b="b" t="t" l="l"/>
            <a:pathLst>
              <a:path h="3832264" w="3832264">
                <a:moveTo>
                  <a:pt x="0" y="0"/>
                </a:moveTo>
                <a:lnTo>
                  <a:pt x="3832263" y="0"/>
                </a:lnTo>
                <a:lnTo>
                  <a:pt x="3832263" y="3832264"/>
                </a:lnTo>
                <a:lnTo>
                  <a:pt x="0" y="3832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13041" y="2465880"/>
            <a:ext cx="8115300" cy="7821120"/>
          </a:xfrm>
          <a:custGeom>
            <a:avLst/>
            <a:gdLst/>
            <a:ahLst/>
            <a:cxnLst/>
            <a:rect r="r" b="b" t="t" l="l"/>
            <a:pathLst>
              <a:path h="7821120" w="8115300">
                <a:moveTo>
                  <a:pt x="0" y="0"/>
                </a:moveTo>
                <a:lnTo>
                  <a:pt x="8115300" y="0"/>
                </a:lnTo>
                <a:lnTo>
                  <a:pt x="8115300" y="7821120"/>
                </a:lnTo>
                <a:lnTo>
                  <a:pt x="0" y="7821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73905" y="3363383"/>
            <a:ext cx="6210212" cy="6026114"/>
          </a:xfrm>
          <a:custGeom>
            <a:avLst/>
            <a:gdLst/>
            <a:ahLst/>
            <a:cxnLst/>
            <a:rect r="r" b="b" t="t" l="l"/>
            <a:pathLst>
              <a:path h="6026114" w="6210212">
                <a:moveTo>
                  <a:pt x="0" y="0"/>
                </a:moveTo>
                <a:lnTo>
                  <a:pt x="6210211" y="0"/>
                </a:lnTo>
                <a:lnTo>
                  <a:pt x="6210211" y="6026114"/>
                </a:lnTo>
                <a:lnTo>
                  <a:pt x="0" y="6026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3255"/>
            <a:ext cx="14246005" cy="237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9078"/>
              </a:lnSpc>
            </a:pPr>
            <a:r>
              <a:rPr lang="en-US" sz="7565" spc="461">
                <a:solidFill>
                  <a:srgbClr val="343434"/>
                </a:solidFill>
                <a:latin typeface="Scripter"/>
              </a:rPr>
              <a:t>fundamental models of</a:t>
            </a:r>
            <a:r>
              <a:rPr lang="en-US" sz="7565" spc="461">
                <a:solidFill>
                  <a:srgbClr val="343434"/>
                </a:solidFill>
                <a:latin typeface="Scripter"/>
              </a:rPr>
              <a:t> </a:t>
            </a:r>
          </a:p>
          <a:p>
            <a:pPr marL="0" indent="0" lvl="0">
              <a:lnSpc>
                <a:spcPts val="9078"/>
              </a:lnSpc>
              <a:spcBef>
                <a:spcPct val="0"/>
              </a:spcBef>
            </a:pPr>
            <a:r>
              <a:rPr lang="en-US" sz="7565" spc="461">
                <a:solidFill>
                  <a:srgbClr val="343434"/>
                </a:solidFill>
                <a:latin typeface="Scripter"/>
              </a:rPr>
              <a:t>inter-process communication: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3871" y="2931565"/>
            <a:ext cx="7400274" cy="685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9"/>
              </a:lnSpc>
            </a:pPr>
            <a:r>
              <a:rPr lang="en-US" sz="3499">
                <a:solidFill>
                  <a:srgbClr val="343434"/>
                </a:solidFill>
                <a:latin typeface="Lato 1 Bold Italics"/>
              </a:rPr>
              <a:t>Message Passing:</a:t>
            </a:r>
            <a:r>
              <a:rPr lang="en-US" sz="3499">
                <a:solidFill>
                  <a:srgbClr val="343434"/>
                </a:solidFill>
                <a:latin typeface="Lato 1"/>
              </a:rPr>
              <a:t> In this model,   processes communicate by sending and receiving messages through a </a:t>
            </a:r>
            <a:r>
              <a:rPr lang="en-US" sz="3499" u="sng">
                <a:solidFill>
                  <a:srgbClr val="343434"/>
                </a:solidFill>
                <a:latin typeface="Lato 1"/>
              </a:rPr>
              <a:t>communication channel</a:t>
            </a:r>
            <a:r>
              <a:rPr lang="en-US" sz="3499">
                <a:solidFill>
                  <a:srgbClr val="343434"/>
                </a:solidFill>
                <a:latin typeface="Lato 1"/>
              </a:rPr>
              <a:t> provided by the operating system. These messages can contain data, signals, or requests. </a:t>
            </a:r>
          </a:p>
          <a:p>
            <a:pPr>
              <a:lnSpc>
                <a:spcPts val="4549"/>
              </a:lnSpc>
            </a:pPr>
            <a:r>
              <a:rPr lang="en-US" sz="3499">
                <a:solidFill>
                  <a:srgbClr val="343434"/>
                </a:solidFill>
                <a:latin typeface="Lato 1"/>
              </a:rPr>
              <a:t>The operating system kernel mediates the message passing, ensuring that messages are delivered reliably and securely between processes.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0783" y="2931565"/>
            <a:ext cx="733088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343434"/>
                </a:solidFill>
                <a:latin typeface="Lato 1"/>
              </a:rPr>
              <a:t>2.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544399"/>
            <a:ext cx="4380039" cy="4276511"/>
          </a:xfrm>
          <a:custGeom>
            <a:avLst/>
            <a:gdLst/>
            <a:ahLst/>
            <a:cxnLst/>
            <a:rect r="r" b="b" t="t" l="l"/>
            <a:pathLst>
              <a:path h="4276511" w="4380039">
                <a:moveTo>
                  <a:pt x="0" y="0"/>
                </a:moveTo>
                <a:lnTo>
                  <a:pt x="4380039" y="0"/>
                </a:lnTo>
                <a:lnTo>
                  <a:pt x="4380039" y="4276511"/>
                </a:lnTo>
                <a:lnTo>
                  <a:pt x="0" y="4276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-95250"/>
            <a:ext cx="12711638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spc="488">
                <a:solidFill>
                  <a:srgbClr val="343434"/>
                </a:solidFill>
                <a:latin typeface="Scripter"/>
              </a:rPr>
              <a:t>Message-Passing Systems: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45540" y="1390650"/>
            <a:ext cx="13927686" cy="685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55646" indent="-377823" lvl="1">
              <a:lnSpc>
                <a:spcPts val="4549"/>
              </a:lnSpc>
              <a:buFont typeface="Arial"/>
              <a:buChar char="•"/>
            </a:pPr>
            <a:r>
              <a:rPr lang="en-US" sz="3499">
                <a:solidFill>
                  <a:srgbClr val="343434"/>
                </a:solidFill>
                <a:latin typeface="Lato 1 Bold Italics"/>
              </a:rPr>
              <a:t>Message Passing: </a:t>
            </a:r>
            <a:r>
              <a:rPr lang="en-US" sz="3499">
                <a:solidFill>
                  <a:srgbClr val="343434"/>
                </a:solidFill>
                <a:latin typeface="Lato 1"/>
              </a:rPr>
              <a:t>Operating systems can provide a message-passing facility for cooperating processes to communicate and synchronize without sharing the same address space.</a:t>
            </a:r>
          </a:p>
          <a:p>
            <a:pPr marL="755646" indent="-377823" lvl="1">
              <a:lnSpc>
                <a:spcPts val="4549"/>
              </a:lnSpc>
              <a:buFont typeface="Arial"/>
              <a:buChar char="•"/>
            </a:pPr>
            <a:r>
              <a:rPr lang="en-US" sz="3499">
                <a:solidFill>
                  <a:srgbClr val="343434"/>
                </a:solidFill>
                <a:latin typeface="Lato 1 Bold Italics"/>
              </a:rPr>
              <a:t>Distributed Environment:</a:t>
            </a:r>
            <a:r>
              <a:rPr lang="en-US" sz="3499">
                <a:solidFill>
                  <a:srgbClr val="343434"/>
                </a:solidFill>
                <a:latin typeface="Lato 1"/>
              </a:rPr>
              <a:t> Message passing is particularly useful in distributed environments, where communicating processes may reside on different computers connected by a network.</a:t>
            </a:r>
          </a:p>
          <a:p>
            <a:pPr marL="755646" indent="-377823" lvl="1">
              <a:lnSpc>
                <a:spcPts val="4549"/>
              </a:lnSpc>
              <a:buFont typeface="Arial"/>
              <a:buChar char="•"/>
            </a:pPr>
            <a:r>
              <a:rPr lang="en-US" sz="3499">
                <a:solidFill>
                  <a:srgbClr val="343434"/>
                </a:solidFill>
                <a:latin typeface="Lato 1 Bold Italics"/>
              </a:rPr>
              <a:t>Operations:</a:t>
            </a:r>
            <a:r>
              <a:rPr lang="en-US" sz="3499">
                <a:solidFill>
                  <a:srgbClr val="343434"/>
                </a:solidFill>
                <a:latin typeface="Lato 1"/>
              </a:rPr>
              <a:t> Message passing typically includes operations like </a:t>
            </a:r>
            <a:r>
              <a:rPr lang="en-US" sz="3499" u="sng">
                <a:solidFill>
                  <a:srgbClr val="343434"/>
                </a:solidFill>
                <a:latin typeface="Lato 1 Italics"/>
              </a:rPr>
              <a:t>send(message)</a:t>
            </a:r>
            <a:r>
              <a:rPr lang="en-US" sz="3499">
                <a:solidFill>
                  <a:srgbClr val="343434"/>
                </a:solidFill>
                <a:latin typeface="Lato 1"/>
              </a:rPr>
              <a:t> and </a:t>
            </a:r>
            <a:r>
              <a:rPr lang="en-US" sz="3499" u="sng">
                <a:solidFill>
                  <a:srgbClr val="343434"/>
                </a:solidFill>
                <a:latin typeface="Lato 1 Italics"/>
              </a:rPr>
              <a:t>receive(message)</a:t>
            </a:r>
          </a:p>
          <a:p>
            <a:pPr algn="l" marL="755646" indent="-377823" lvl="1">
              <a:lnSpc>
                <a:spcPts val="4549"/>
              </a:lnSpc>
              <a:buFont typeface="Arial"/>
              <a:buChar char="•"/>
            </a:pPr>
            <a:r>
              <a:rPr lang="en-US" sz="3499">
                <a:solidFill>
                  <a:srgbClr val="343434"/>
                </a:solidFill>
                <a:latin typeface="Lato 1 Bold Italics"/>
              </a:rPr>
              <a:t>Tradeoffs</a:t>
            </a:r>
            <a:r>
              <a:rPr lang="en-US" sz="3499">
                <a:solidFill>
                  <a:srgbClr val="343434"/>
                </a:solidFill>
                <a:latin typeface="Lato 1"/>
              </a:rPr>
              <a:t>: Fixed-sized messages simplify system-level implementation but make programming more difficult, while variable-sized messages require a more complex implementation but simplify programming. </a:t>
            </a:r>
          </a:p>
        </p:txBody>
      </p:sp>
      <p:grpSp>
        <p:nvGrpSpPr>
          <p:cNvPr name="Group 5" id="5"/>
          <p:cNvGrpSpPr/>
          <p:nvPr/>
        </p:nvGrpSpPr>
        <p:grpSpPr>
          <a:xfrm rot="-10800000">
            <a:off x="14380577" y="8695690"/>
            <a:ext cx="3431401" cy="1125220"/>
            <a:chOff x="0" y="0"/>
            <a:chExt cx="903743" cy="2963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3743" cy="296354"/>
            </a:xfrm>
            <a:custGeom>
              <a:avLst/>
              <a:gdLst/>
              <a:ahLst/>
              <a:cxnLst/>
              <a:rect r="r" b="b" t="t" l="l"/>
              <a:pathLst>
                <a:path h="296354" w="903743">
                  <a:moveTo>
                    <a:pt x="700543" y="0"/>
                  </a:moveTo>
                  <a:lnTo>
                    <a:pt x="0" y="0"/>
                  </a:lnTo>
                  <a:lnTo>
                    <a:pt x="0" y="296354"/>
                  </a:lnTo>
                  <a:lnTo>
                    <a:pt x="700543" y="296354"/>
                  </a:lnTo>
                  <a:lnTo>
                    <a:pt x="903743" y="148177"/>
                  </a:lnTo>
                  <a:lnTo>
                    <a:pt x="700543" y="0"/>
                  </a:lnTo>
                  <a:close/>
                </a:path>
              </a:pathLst>
            </a:custGeom>
            <a:solidFill>
              <a:srgbClr val="C492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789443" cy="324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866397" y="8808521"/>
            <a:ext cx="2993206" cy="842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6248"/>
              </a:lnSpc>
              <a:spcBef>
                <a:spcPct val="0"/>
              </a:spcBef>
            </a:pPr>
            <a:r>
              <a:rPr lang="en-US" sz="5206" spc="317">
                <a:solidFill>
                  <a:srgbClr val="343434"/>
                </a:solidFill>
                <a:latin typeface="Scripter Semi-Bold"/>
              </a:rPr>
              <a:t>Scenario: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25024" y="8413750"/>
            <a:ext cx="10055554" cy="16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475"/>
              </a:lnSpc>
            </a:pPr>
            <a:r>
              <a:rPr lang="en-US" sz="3442">
                <a:solidFill>
                  <a:srgbClr val="343434"/>
                </a:solidFill>
                <a:latin typeface="Lato 1 Bold Italics"/>
              </a:rPr>
              <a:t>A communication link for send( ) / receive( )operations:</a:t>
            </a:r>
          </a:p>
          <a:p>
            <a:pPr marL="743284" indent="-371642" lvl="1">
              <a:lnSpc>
                <a:spcPts val="4475"/>
              </a:lnSpc>
              <a:buFont typeface="Arial"/>
              <a:buChar char="•"/>
            </a:pPr>
            <a:r>
              <a:rPr lang="en-US" sz="3442">
                <a:solidFill>
                  <a:srgbClr val="343434"/>
                </a:solidFill>
                <a:latin typeface="Lato 1 Bold Italics"/>
              </a:rPr>
              <a:t>Direct or indirect communication</a:t>
            </a:r>
          </a:p>
          <a:p>
            <a:pPr algn="l" marL="743284" indent="-371642" lvl="1">
              <a:lnSpc>
                <a:spcPts val="4475"/>
              </a:lnSpc>
              <a:buFont typeface="Arial"/>
              <a:buChar char="•"/>
            </a:pPr>
            <a:r>
              <a:rPr lang="en-US" sz="3442">
                <a:solidFill>
                  <a:srgbClr val="343434"/>
                </a:solidFill>
                <a:latin typeface="Lato 1 Bold Italics"/>
              </a:rPr>
              <a:t>Synchronous or asynchronous communication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86967" y="0"/>
            <a:ext cx="7542179" cy="10056239"/>
          </a:xfrm>
          <a:custGeom>
            <a:avLst/>
            <a:gdLst/>
            <a:ahLst/>
            <a:cxnLst/>
            <a:rect r="r" b="b" t="t" l="l"/>
            <a:pathLst>
              <a:path h="10056239" w="7542179">
                <a:moveTo>
                  <a:pt x="0" y="0"/>
                </a:moveTo>
                <a:lnTo>
                  <a:pt x="7542179" y="0"/>
                </a:lnTo>
                <a:lnTo>
                  <a:pt x="7542179" y="10056239"/>
                </a:lnTo>
                <a:lnTo>
                  <a:pt x="0" y="10056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34927" y="9220200"/>
            <a:ext cx="1369045" cy="78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2"/>
              </a:lnSpc>
              <a:spcBef>
                <a:spcPct val="0"/>
              </a:spcBef>
            </a:pPr>
            <a:r>
              <a:rPr lang="en-US" sz="2435" spc="148">
                <a:solidFill>
                  <a:srgbClr val="000000"/>
                </a:solidFill>
                <a:latin typeface="Scripter"/>
              </a:rPr>
              <a:t>pass messages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957040"/>
            <a:ext cx="6563687" cy="1497900"/>
            <a:chOff x="0" y="0"/>
            <a:chExt cx="1298602" cy="2963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8602" cy="296354"/>
            </a:xfrm>
            <a:custGeom>
              <a:avLst/>
              <a:gdLst/>
              <a:ahLst/>
              <a:cxnLst/>
              <a:rect r="r" b="b" t="t" l="l"/>
              <a:pathLst>
                <a:path h="296354" w="1298602">
                  <a:moveTo>
                    <a:pt x="1095402" y="0"/>
                  </a:moveTo>
                  <a:lnTo>
                    <a:pt x="0" y="0"/>
                  </a:lnTo>
                  <a:lnTo>
                    <a:pt x="0" y="296354"/>
                  </a:lnTo>
                  <a:lnTo>
                    <a:pt x="1095402" y="296354"/>
                  </a:lnTo>
                  <a:lnTo>
                    <a:pt x="1298602" y="148177"/>
                  </a:lnTo>
                  <a:lnTo>
                    <a:pt x="1095402" y="0"/>
                  </a:lnTo>
                  <a:close/>
                </a:path>
              </a:pathLst>
            </a:custGeom>
            <a:solidFill>
              <a:srgbClr val="C492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84302" cy="324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426622" y="2245863"/>
            <a:ext cx="8132314" cy="477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1402884" indent="-701442" lvl="1">
              <a:lnSpc>
                <a:spcPts val="8447"/>
              </a:lnSpc>
              <a:buFont typeface="Arial"/>
              <a:buChar char="•"/>
            </a:pPr>
            <a:r>
              <a:rPr lang="en-US" sz="6497">
                <a:solidFill>
                  <a:srgbClr val="343434"/>
                </a:solidFill>
                <a:latin typeface="Biski"/>
              </a:rPr>
              <a:t>Efficiency</a:t>
            </a:r>
          </a:p>
          <a:p>
            <a:pPr marL="1402884" indent="-701442" lvl="1">
              <a:lnSpc>
                <a:spcPts val="8447"/>
              </a:lnSpc>
              <a:buFont typeface="Arial"/>
              <a:buChar char="•"/>
            </a:pPr>
            <a:r>
              <a:rPr lang="en-US" sz="6497">
                <a:solidFill>
                  <a:srgbClr val="343434"/>
                </a:solidFill>
                <a:latin typeface="Biski"/>
              </a:rPr>
              <a:t>Flexibility</a:t>
            </a:r>
          </a:p>
          <a:p>
            <a:pPr marL="1402884" indent="-701442" lvl="1">
              <a:lnSpc>
                <a:spcPts val="8447"/>
              </a:lnSpc>
              <a:buFont typeface="Arial"/>
              <a:buChar char="•"/>
            </a:pPr>
            <a:r>
              <a:rPr lang="en-US" sz="6497">
                <a:solidFill>
                  <a:srgbClr val="343434"/>
                </a:solidFill>
                <a:latin typeface="Biski"/>
              </a:rPr>
              <a:t>Low Overhead</a:t>
            </a:r>
          </a:p>
          <a:p>
            <a:pPr algn="l">
              <a:lnSpc>
                <a:spcPts val="8447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7077713"/>
            <a:ext cx="6593143" cy="1504622"/>
            <a:chOff x="0" y="0"/>
            <a:chExt cx="1298602" cy="2963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98602" cy="296354"/>
            </a:xfrm>
            <a:custGeom>
              <a:avLst/>
              <a:gdLst/>
              <a:ahLst/>
              <a:cxnLst/>
              <a:rect r="r" b="b" t="t" l="l"/>
              <a:pathLst>
                <a:path h="296354" w="1298602">
                  <a:moveTo>
                    <a:pt x="1095402" y="0"/>
                  </a:moveTo>
                  <a:lnTo>
                    <a:pt x="0" y="0"/>
                  </a:lnTo>
                  <a:lnTo>
                    <a:pt x="0" y="296354"/>
                  </a:lnTo>
                  <a:lnTo>
                    <a:pt x="1095402" y="296354"/>
                  </a:lnTo>
                  <a:lnTo>
                    <a:pt x="1298602" y="148177"/>
                  </a:lnTo>
                  <a:lnTo>
                    <a:pt x="1095402" y="0"/>
                  </a:lnTo>
                  <a:close/>
                </a:path>
              </a:pathLst>
            </a:custGeom>
            <a:solidFill>
              <a:srgbClr val="FDD48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184302" cy="324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339644" y="-1066417"/>
            <a:ext cx="7021138" cy="5995809"/>
            <a:chOff x="0" y="0"/>
            <a:chExt cx="9361517" cy="7994412"/>
          </a:xfrm>
        </p:grpSpPr>
        <p:sp>
          <p:nvSpPr>
            <p:cNvPr name="Freeform 10" id="10"/>
            <p:cNvSpPr/>
            <p:nvPr/>
          </p:nvSpPr>
          <p:spPr>
            <a:xfrm flipH="false" flipV="false" rot="707898">
              <a:off x="309533" y="340140"/>
              <a:ext cx="3679202" cy="3407861"/>
            </a:xfrm>
            <a:custGeom>
              <a:avLst/>
              <a:gdLst/>
              <a:ahLst/>
              <a:cxnLst/>
              <a:rect r="r" b="b" t="t" l="l"/>
              <a:pathLst>
                <a:path h="3407861" w="3679202">
                  <a:moveTo>
                    <a:pt x="0" y="0"/>
                  </a:moveTo>
                  <a:lnTo>
                    <a:pt x="3679203" y="0"/>
                  </a:lnTo>
                  <a:lnTo>
                    <a:pt x="3679203" y="3407861"/>
                  </a:lnTo>
                  <a:lnTo>
                    <a:pt x="0" y="3407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6988485">
              <a:off x="3876044" y="1152596"/>
              <a:ext cx="3679202" cy="3407861"/>
            </a:xfrm>
            <a:custGeom>
              <a:avLst/>
              <a:gdLst/>
              <a:ahLst/>
              <a:cxnLst/>
              <a:rect r="r" b="b" t="t" l="l"/>
              <a:pathLst>
                <a:path h="3407861" w="3679202">
                  <a:moveTo>
                    <a:pt x="0" y="0"/>
                  </a:moveTo>
                  <a:lnTo>
                    <a:pt x="3679202" y="0"/>
                  </a:lnTo>
                  <a:lnTo>
                    <a:pt x="3679202" y="3407861"/>
                  </a:lnTo>
                  <a:lnTo>
                    <a:pt x="0" y="3407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10298734">
              <a:off x="5454262" y="4337346"/>
              <a:ext cx="3679202" cy="3407861"/>
            </a:xfrm>
            <a:custGeom>
              <a:avLst/>
              <a:gdLst/>
              <a:ahLst/>
              <a:cxnLst/>
              <a:rect r="r" b="b" t="t" l="l"/>
              <a:pathLst>
                <a:path h="3407861" w="3679202">
                  <a:moveTo>
                    <a:pt x="0" y="0"/>
                  </a:moveTo>
                  <a:lnTo>
                    <a:pt x="3679202" y="0"/>
                  </a:lnTo>
                  <a:lnTo>
                    <a:pt x="3679202" y="3407861"/>
                  </a:lnTo>
                  <a:lnTo>
                    <a:pt x="0" y="3407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361470" y="-2005532"/>
            <a:ext cx="4011063" cy="4011063"/>
          </a:xfrm>
          <a:custGeom>
            <a:avLst/>
            <a:gdLst/>
            <a:ahLst/>
            <a:cxnLst/>
            <a:rect r="r" b="b" t="t" l="l"/>
            <a:pathLst>
              <a:path h="4011063" w="4011063">
                <a:moveTo>
                  <a:pt x="0" y="0"/>
                </a:moveTo>
                <a:lnTo>
                  <a:pt x="4011063" y="0"/>
                </a:lnTo>
                <a:lnTo>
                  <a:pt x="4011063" y="4011064"/>
                </a:lnTo>
                <a:lnTo>
                  <a:pt x="0" y="4011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802454" y="617037"/>
            <a:ext cx="7359285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spc="488">
                <a:solidFill>
                  <a:srgbClr val="343434"/>
                </a:solidFill>
                <a:latin typeface="Scripter"/>
              </a:rPr>
              <a:t>the strengths: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8445" y="3231328"/>
            <a:ext cx="6108177" cy="8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9"/>
              </a:lnSpc>
            </a:pPr>
            <a:r>
              <a:rPr lang="en-US" sz="5499">
                <a:solidFill>
                  <a:srgbClr val="3B3B3B"/>
                </a:solidFill>
                <a:latin typeface="Lato 1 Bold"/>
              </a:rPr>
              <a:t>Shared Memory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8445" y="7283767"/>
            <a:ext cx="5591380" cy="8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9"/>
              </a:lnSpc>
            </a:pPr>
            <a:r>
              <a:rPr lang="en-US" sz="5499">
                <a:solidFill>
                  <a:srgbClr val="3B3B3B"/>
                </a:solidFill>
                <a:latin typeface="Lato 2 Bold"/>
              </a:rPr>
              <a:t>Message Passing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92387" y="6312900"/>
            <a:ext cx="8814444" cy="481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1414144" indent="-707072" lvl="1">
              <a:lnSpc>
                <a:spcPts val="8514"/>
              </a:lnSpc>
              <a:buFont typeface="Arial"/>
              <a:buChar char="•"/>
            </a:pPr>
            <a:r>
              <a:rPr lang="en-US" sz="6549">
                <a:solidFill>
                  <a:srgbClr val="343434"/>
                </a:solidFill>
                <a:latin typeface="Biski"/>
              </a:rPr>
              <a:t>Isolation</a:t>
            </a:r>
          </a:p>
          <a:p>
            <a:pPr marL="1414144" indent="-707072" lvl="1">
              <a:lnSpc>
                <a:spcPts val="8514"/>
              </a:lnSpc>
              <a:buFont typeface="Arial"/>
              <a:buChar char="•"/>
            </a:pPr>
            <a:r>
              <a:rPr lang="en-US" sz="6549">
                <a:solidFill>
                  <a:srgbClr val="343434"/>
                </a:solidFill>
                <a:latin typeface="Biski"/>
              </a:rPr>
              <a:t>Simplicity</a:t>
            </a:r>
          </a:p>
          <a:p>
            <a:pPr algn="l" marL="1414144" indent="-707072" lvl="1">
              <a:lnSpc>
                <a:spcPts val="8514"/>
              </a:lnSpc>
              <a:buFont typeface="Arial"/>
              <a:buChar char="•"/>
            </a:pPr>
            <a:r>
              <a:rPr lang="en-US" sz="6549">
                <a:solidFill>
                  <a:srgbClr val="343434"/>
                </a:solidFill>
                <a:latin typeface="Biski"/>
              </a:rPr>
              <a:t>Safety</a:t>
            </a:r>
          </a:p>
          <a:p>
            <a:pPr algn="l">
              <a:lnSpc>
                <a:spcPts val="851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61470" y="276225"/>
            <a:ext cx="2005532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0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Open Sans Bold"/>
              </a:rPr>
              <a:t>The + points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75807" y="323850"/>
            <a:ext cx="8144755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spc="488">
                <a:solidFill>
                  <a:srgbClr val="343434"/>
                </a:solidFill>
                <a:latin typeface="Scripter"/>
              </a:rPr>
              <a:t>the weakness: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339644" y="-1066417"/>
            <a:ext cx="7021138" cy="5995809"/>
            <a:chOff x="0" y="0"/>
            <a:chExt cx="9361517" cy="7994412"/>
          </a:xfrm>
        </p:grpSpPr>
        <p:sp>
          <p:nvSpPr>
            <p:cNvPr name="Freeform 4" id="4"/>
            <p:cNvSpPr/>
            <p:nvPr/>
          </p:nvSpPr>
          <p:spPr>
            <a:xfrm flipH="false" flipV="false" rot="707898">
              <a:off x="309533" y="340140"/>
              <a:ext cx="3679202" cy="3407861"/>
            </a:xfrm>
            <a:custGeom>
              <a:avLst/>
              <a:gdLst/>
              <a:ahLst/>
              <a:cxnLst/>
              <a:rect r="r" b="b" t="t" l="l"/>
              <a:pathLst>
                <a:path h="3407861" w="3679202">
                  <a:moveTo>
                    <a:pt x="0" y="0"/>
                  </a:moveTo>
                  <a:lnTo>
                    <a:pt x="3679203" y="0"/>
                  </a:lnTo>
                  <a:lnTo>
                    <a:pt x="3679203" y="3407861"/>
                  </a:lnTo>
                  <a:lnTo>
                    <a:pt x="0" y="3407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6988485">
              <a:off x="3876044" y="1152596"/>
              <a:ext cx="3679202" cy="3407861"/>
            </a:xfrm>
            <a:custGeom>
              <a:avLst/>
              <a:gdLst/>
              <a:ahLst/>
              <a:cxnLst/>
              <a:rect r="r" b="b" t="t" l="l"/>
              <a:pathLst>
                <a:path h="3407861" w="3679202">
                  <a:moveTo>
                    <a:pt x="0" y="0"/>
                  </a:moveTo>
                  <a:lnTo>
                    <a:pt x="3679202" y="0"/>
                  </a:lnTo>
                  <a:lnTo>
                    <a:pt x="3679202" y="3407861"/>
                  </a:lnTo>
                  <a:lnTo>
                    <a:pt x="0" y="3407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10298734">
              <a:off x="5454262" y="4337346"/>
              <a:ext cx="3679202" cy="3407861"/>
            </a:xfrm>
            <a:custGeom>
              <a:avLst/>
              <a:gdLst/>
              <a:ahLst/>
              <a:cxnLst/>
              <a:rect r="r" b="b" t="t" l="l"/>
              <a:pathLst>
                <a:path h="3407861" w="3679202">
                  <a:moveTo>
                    <a:pt x="0" y="0"/>
                  </a:moveTo>
                  <a:lnTo>
                    <a:pt x="3679202" y="0"/>
                  </a:lnTo>
                  <a:lnTo>
                    <a:pt x="3679202" y="3407861"/>
                  </a:lnTo>
                  <a:lnTo>
                    <a:pt x="0" y="3407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2946818"/>
            <a:ext cx="5901891" cy="1497900"/>
            <a:chOff x="0" y="0"/>
            <a:chExt cx="1167668" cy="2963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67668" cy="296354"/>
            </a:xfrm>
            <a:custGeom>
              <a:avLst/>
              <a:gdLst/>
              <a:ahLst/>
              <a:cxnLst/>
              <a:rect r="r" b="b" t="t" l="l"/>
              <a:pathLst>
                <a:path h="296354" w="1167668">
                  <a:moveTo>
                    <a:pt x="964468" y="0"/>
                  </a:moveTo>
                  <a:lnTo>
                    <a:pt x="0" y="0"/>
                  </a:lnTo>
                  <a:lnTo>
                    <a:pt x="0" y="296354"/>
                  </a:lnTo>
                  <a:lnTo>
                    <a:pt x="964468" y="296354"/>
                  </a:lnTo>
                  <a:lnTo>
                    <a:pt x="1167668" y="148177"/>
                  </a:lnTo>
                  <a:lnTo>
                    <a:pt x="964468" y="0"/>
                  </a:lnTo>
                  <a:close/>
                </a:path>
              </a:pathLst>
            </a:custGeom>
            <a:solidFill>
              <a:srgbClr val="C492B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53368" cy="324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51230" y="3221105"/>
            <a:ext cx="6108177" cy="8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9"/>
              </a:lnSpc>
            </a:pPr>
            <a:r>
              <a:rPr lang="en-US" sz="5499">
                <a:solidFill>
                  <a:srgbClr val="3B3B3B"/>
                </a:solidFill>
                <a:latin typeface="Lato 1 Bold"/>
              </a:rPr>
              <a:t>Shared Memory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691252" y="6956852"/>
            <a:ext cx="6593143" cy="1504622"/>
            <a:chOff x="0" y="0"/>
            <a:chExt cx="1298602" cy="2963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8602" cy="296354"/>
            </a:xfrm>
            <a:custGeom>
              <a:avLst/>
              <a:gdLst/>
              <a:ahLst/>
              <a:cxnLst/>
              <a:rect r="r" b="b" t="t" l="l"/>
              <a:pathLst>
                <a:path h="296354" w="1298602">
                  <a:moveTo>
                    <a:pt x="1095402" y="0"/>
                  </a:moveTo>
                  <a:lnTo>
                    <a:pt x="0" y="0"/>
                  </a:lnTo>
                  <a:lnTo>
                    <a:pt x="0" y="296354"/>
                  </a:lnTo>
                  <a:lnTo>
                    <a:pt x="1095402" y="296354"/>
                  </a:lnTo>
                  <a:lnTo>
                    <a:pt x="1298602" y="148177"/>
                  </a:lnTo>
                  <a:lnTo>
                    <a:pt x="1095402" y="0"/>
                  </a:lnTo>
                  <a:close/>
                </a:path>
              </a:pathLst>
            </a:custGeom>
            <a:solidFill>
              <a:srgbClr val="FDD48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184302" cy="324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0" y="7234500"/>
            <a:ext cx="5591380" cy="8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9"/>
              </a:lnSpc>
            </a:pPr>
            <a:r>
              <a:rPr lang="en-US" sz="5499">
                <a:solidFill>
                  <a:srgbClr val="3B3B3B"/>
                </a:solidFill>
                <a:latin typeface="Lato 2 Bold"/>
              </a:rPr>
              <a:t>Message Passing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62140" y="2687705"/>
            <a:ext cx="8458423" cy="3708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1402884" indent="-701442" lvl="1">
              <a:lnSpc>
                <a:spcPts val="8447"/>
              </a:lnSpc>
              <a:buFont typeface="Arial"/>
              <a:buChar char="•"/>
            </a:pPr>
            <a:r>
              <a:rPr lang="en-US" sz="6497">
                <a:solidFill>
                  <a:srgbClr val="343434"/>
                </a:solidFill>
                <a:latin typeface="Biski"/>
              </a:rPr>
              <a:t>Synchronization</a:t>
            </a:r>
          </a:p>
          <a:p>
            <a:pPr marL="1402884" indent="-701442" lvl="1">
              <a:lnSpc>
                <a:spcPts val="8447"/>
              </a:lnSpc>
              <a:buFont typeface="Arial"/>
              <a:buChar char="•"/>
            </a:pPr>
            <a:r>
              <a:rPr lang="en-US" sz="6497">
                <a:solidFill>
                  <a:srgbClr val="343434"/>
                </a:solidFill>
                <a:latin typeface="Biski"/>
              </a:rPr>
              <a:t>Complexity  </a:t>
            </a:r>
          </a:p>
          <a:p>
            <a:pPr algn="l" marL="1402884" indent="-701442" lvl="1">
              <a:lnSpc>
                <a:spcPts val="8447"/>
              </a:lnSpc>
              <a:buFont typeface="Arial"/>
              <a:buChar char="•"/>
            </a:pPr>
            <a:r>
              <a:rPr lang="en-US" sz="6497">
                <a:solidFill>
                  <a:srgbClr val="343434"/>
                </a:solidFill>
                <a:latin typeface="Biski"/>
              </a:rPr>
              <a:t>Security Risks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62140" y="6575425"/>
            <a:ext cx="14509602" cy="477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1403351" indent="-701675" lvl="1">
              <a:lnSpc>
                <a:spcPts val="8450"/>
              </a:lnSpc>
              <a:buFont typeface="Arial"/>
              <a:buChar char="•"/>
            </a:pPr>
            <a:r>
              <a:rPr lang="en-US" sz="6500">
                <a:solidFill>
                  <a:srgbClr val="343434"/>
                </a:solidFill>
                <a:latin typeface="Biski"/>
              </a:rPr>
              <a:t>Overhead</a:t>
            </a:r>
          </a:p>
          <a:p>
            <a:pPr marL="1403351" indent="-701675" lvl="1">
              <a:lnSpc>
                <a:spcPts val="8450"/>
              </a:lnSpc>
              <a:buFont typeface="Arial"/>
              <a:buChar char="•"/>
            </a:pPr>
            <a:r>
              <a:rPr lang="en-US" sz="6500">
                <a:solidFill>
                  <a:srgbClr val="343434"/>
                </a:solidFill>
                <a:latin typeface="Biski"/>
              </a:rPr>
              <a:t>Complexity in Large Systems </a:t>
            </a:r>
          </a:p>
          <a:p>
            <a:pPr marL="1403351" indent="-701675" lvl="1">
              <a:lnSpc>
                <a:spcPts val="8450"/>
              </a:lnSpc>
              <a:buFont typeface="Arial"/>
              <a:buChar char="•"/>
            </a:pPr>
            <a:r>
              <a:rPr lang="en-US" sz="6500">
                <a:solidFill>
                  <a:srgbClr val="343434"/>
                </a:solidFill>
                <a:latin typeface="Biski"/>
              </a:rPr>
              <a:t>Limited Communication</a:t>
            </a:r>
          </a:p>
          <a:p>
            <a:pPr algn="l">
              <a:lnSpc>
                <a:spcPts val="8450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-10800000">
            <a:off x="790159" y="-2079576"/>
            <a:ext cx="4011063" cy="4011063"/>
          </a:xfrm>
          <a:custGeom>
            <a:avLst/>
            <a:gdLst/>
            <a:ahLst/>
            <a:cxnLst/>
            <a:rect r="r" b="b" t="t" l="l"/>
            <a:pathLst>
              <a:path h="4011063" w="4011063">
                <a:moveTo>
                  <a:pt x="0" y="0"/>
                </a:moveTo>
                <a:lnTo>
                  <a:pt x="4011063" y="0"/>
                </a:lnTo>
                <a:lnTo>
                  <a:pt x="4011063" y="4011063"/>
                </a:lnTo>
                <a:lnTo>
                  <a:pt x="0" y="40110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399367" y="181116"/>
            <a:ext cx="3019289" cy="152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2"/>
              </a:lnSpc>
              <a:spcBef>
                <a:spcPct val="0"/>
              </a:spcBef>
            </a:pPr>
            <a:r>
              <a:rPr lang="en-US" sz="4679">
                <a:solidFill>
                  <a:srgbClr val="000000"/>
                </a:solidFill>
                <a:latin typeface="Open Sans Bold"/>
              </a:rPr>
              <a:t>The - points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02289" y="1028700"/>
            <a:ext cx="7257011" cy="8229600"/>
          </a:xfrm>
          <a:custGeom>
            <a:avLst/>
            <a:gdLst/>
            <a:ahLst/>
            <a:cxnLst/>
            <a:rect r="r" b="b" t="t" l="l"/>
            <a:pathLst>
              <a:path h="8229600" w="7257011">
                <a:moveTo>
                  <a:pt x="0" y="0"/>
                </a:moveTo>
                <a:lnTo>
                  <a:pt x="7257011" y="0"/>
                </a:lnTo>
                <a:lnTo>
                  <a:pt x="725701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9245" y="933450"/>
            <a:ext cx="8144755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spc="488">
                <a:solidFill>
                  <a:srgbClr val="343434"/>
                </a:solidFill>
                <a:latin typeface="Scripter"/>
              </a:rPr>
              <a:t>topic 2: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9627" y="2572633"/>
            <a:ext cx="9123991" cy="722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7149"/>
              </a:lnSpc>
            </a:pPr>
            <a:r>
              <a:rPr lang="en-US" sz="5499">
                <a:solidFill>
                  <a:srgbClr val="343434"/>
                </a:solidFill>
                <a:latin typeface="Lato 2 Italics"/>
              </a:rPr>
              <a:t>Why does Java provide the ability to call from a Java program native methods that are written in, say, C or C++? </a:t>
            </a:r>
          </a:p>
          <a:p>
            <a:pPr>
              <a:lnSpc>
                <a:spcPts val="7149"/>
              </a:lnSpc>
            </a:pPr>
          </a:p>
          <a:p>
            <a:pPr algn="l">
              <a:lnSpc>
                <a:spcPts val="7149"/>
              </a:lnSpc>
            </a:pPr>
            <a:r>
              <a:rPr lang="en-US" sz="5499">
                <a:solidFill>
                  <a:srgbClr val="343434"/>
                </a:solidFill>
                <a:latin typeface="Lato 2 Italics"/>
              </a:rPr>
              <a:t>Provide an example of a situation in which a native method is useful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2904318" y="4386866"/>
            <a:ext cx="5672216" cy="5724321"/>
            <a:chOff x="0" y="0"/>
            <a:chExt cx="1226566" cy="12378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6566" cy="1237833"/>
            </a:xfrm>
            <a:custGeom>
              <a:avLst/>
              <a:gdLst/>
              <a:ahLst/>
              <a:cxnLst/>
              <a:rect r="r" b="b" t="t" l="l"/>
              <a:pathLst>
                <a:path h="1237833" w="1226566">
                  <a:moveTo>
                    <a:pt x="1023366" y="0"/>
                  </a:moveTo>
                  <a:lnTo>
                    <a:pt x="0" y="0"/>
                  </a:lnTo>
                  <a:lnTo>
                    <a:pt x="0" y="1237833"/>
                  </a:lnTo>
                  <a:lnTo>
                    <a:pt x="1023366" y="1237833"/>
                  </a:lnTo>
                  <a:lnTo>
                    <a:pt x="1226566" y="618917"/>
                  </a:lnTo>
                  <a:lnTo>
                    <a:pt x="1023366" y="0"/>
                  </a:lnTo>
                  <a:close/>
                </a:path>
              </a:pathLst>
            </a:custGeom>
            <a:solidFill>
              <a:srgbClr val="C492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12266" cy="1266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9563979" y="4365868"/>
            <a:ext cx="5672216" cy="5766317"/>
            <a:chOff x="0" y="0"/>
            <a:chExt cx="1226566" cy="12469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6566" cy="1246914"/>
            </a:xfrm>
            <a:custGeom>
              <a:avLst/>
              <a:gdLst/>
              <a:ahLst/>
              <a:cxnLst/>
              <a:rect r="r" b="b" t="t" l="l"/>
              <a:pathLst>
                <a:path h="1246914" w="1226566">
                  <a:moveTo>
                    <a:pt x="1023366" y="0"/>
                  </a:moveTo>
                  <a:lnTo>
                    <a:pt x="0" y="0"/>
                  </a:lnTo>
                  <a:lnTo>
                    <a:pt x="0" y="1246914"/>
                  </a:lnTo>
                  <a:lnTo>
                    <a:pt x="1023366" y="1246914"/>
                  </a:lnTo>
                  <a:lnTo>
                    <a:pt x="1226566" y="623457"/>
                  </a:lnTo>
                  <a:lnTo>
                    <a:pt x="1023366" y="0"/>
                  </a:lnTo>
                  <a:close/>
                </a:path>
              </a:pathLst>
            </a:custGeom>
            <a:solidFill>
              <a:srgbClr val="FDD48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12266" cy="1275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5685" y="-95250"/>
            <a:ext cx="16201145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spc="488">
                <a:solidFill>
                  <a:srgbClr val="343434"/>
                </a:solidFill>
                <a:latin typeface="Scripter"/>
              </a:rPr>
              <a:t>Java's ability to call native methods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78266" y="5936006"/>
            <a:ext cx="5724321" cy="411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3B3B3B"/>
                </a:solidFill>
                <a:latin typeface="Lato 2 Italics"/>
              </a:rPr>
              <a:t>Java's high-level abstractions may not suffice for performance-critical tasks. Invoking native methods allows developers to write efficient code in languages like C/C++, providing finer control over system resources and memory management, crucial for performance optimization in such scenarios.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74552" y="4384026"/>
            <a:ext cx="731749" cy="99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1">
              <a:lnSpc>
                <a:spcPts val="7849"/>
              </a:lnSpc>
              <a:spcBef>
                <a:spcPct val="0"/>
              </a:spcBef>
            </a:pPr>
            <a:r>
              <a:rPr lang="en-US" sz="4999" u="none">
                <a:solidFill>
                  <a:srgbClr val="3B3B3B"/>
                </a:solidFill>
                <a:latin typeface="Scripter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16928" y="6628791"/>
            <a:ext cx="5766317" cy="342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3B3B3B"/>
                </a:solidFill>
                <a:latin typeface="Lato 2 Italics"/>
              </a:rPr>
              <a:t>While Java prioritizes platform independence, developers may require platform-specific features or system-level resources inaccessible via Java's standard libraries. Invoking native methods allows Java applications to harness such functionalities provided by the underlying operating system or hardware.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34213" y="4441176"/>
            <a:ext cx="731749" cy="99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1">
              <a:lnSpc>
                <a:spcPts val="7849"/>
              </a:lnSpc>
              <a:spcBef>
                <a:spcPct val="0"/>
              </a:spcBef>
            </a:pPr>
            <a:r>
              <a:rPr lang="en-US" sz="4999" u="none">
                <a:solidFill>
                  <a:srgbClr val="3B3B3B"/>
                </a:solidFill>
                <a:latin typeface="Scripter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6177" y="2523476"/>
            <a:ext cx="15440161" cy="176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599">
                <a:solidFill>
                  <a:srgbClr val="343434"/>
                </a:solidFill>
                <a:latin typeface="Lato 2 Italics"/>
              </a:rPr>
              <a:t>Java's ability to call native methods written in languages like C or C++ serves several purposes, primarily revolving around performance, access to system resources, and integration with existing codebases.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8995059">
            <a:off x="-526882" y="-325198"/>
            <a:ext cx="2923396" cy="2707796"/>
          </a:xfrm>
          <a:custGeom>
            <a:avLst/>
            <a:gdLst/>
            <a:ahLst/>
            <a:cxnLst/>
            <a:rect r="r" b="b" t="t" l="l"/>
            <a:pathLst>
              <a:path h="2707796" w="2923396">
                <a:moveTo>
                  <a:pt x="0" y="0"/>
                </a:moveTo>
                <a:lnTo>
                  <a:pt x="2923396" y="0"/>
                </a:lnTo>
                <a:lnTo>
                  <a:pt x="2923396" y="2707796"/>
                </a:lnTo>
                <a:lnTo>
                  <a:pt x="0" y="2707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-8994000">
            <a:off x="15765132" y="166259"/>
            <a:ext cx="2923396" cy="2707796"/>
          </a:xfrm>
          <a:custGeom>
            <a:avLst/>
            <a:gdLst/>
            <a:ahLst/>
            <a:cxnLst/>
            <a:rect r="r" b="b" t="t" l="l"/>
            <a:pathLst>
              <a:path h="2707796" w="2923396">
                <a:moveTo>
                  <a:pt x="2923396" y="0"/>
                </a:moveTo>
                <a:lnTo>
                  <a:pt x="0" y="0"/>
                </a:lnTo>
                <a:lnTo>
                  <a:pt x="0" y="2707796"/>
                </a:lnTo>
                <a:lnTo>
                  <a:pt x="2923396" y="2707796"/>
                </a:lnTo>
                <a:lnTo>
                  <a:pt x="29233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111006" y="5339702"/>
            <a:ext cx="600963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3399" spc="207">
                <a:solidFill>
                  <a:srgbClr val="343434"/>
                </a:solidFill>
                <a:latin typeface="Scripter"/>
              </a:rPr>
              <a:t>Performance Optimization: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18499" y="5520677"/>
            <a:ext cx="616317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3399" spc="207">
                <a:solidFill>
                  <a:srgbClr val="343434"/>
                </a:solidFill>
                <a:latin typeface="Scripter"/>
              </a:rPr>
              <a:t>access to Platform-specific features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2904318" y="4386866"/>
            <a:ext cx="5672216" cy="5724321"/>
            <a:chOff x="0" y="0"/>
            <a:chExt cx="1226566" cy="12378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6566" cy="1237833"/>
            </a:xfrm>
            <a:custGeom>
              <a:avLst/>
              <a:gdLst/>
              <a:ahLst/>
              <a:cxnLst/>
              <a:rect r="r" b="b" t="t" l="l"/>
              <a:pathLst>
                <a:path h="1237833" w="1226566">
                  <a:moveTo>
                    <a:pt x="1023366" y="0"/>
                  </a:moveTo>
                  <a:lnTo>
                    <a:pt x="0" y="0"/>
                  </a:lnTo>
                  <a:lnTo>
                    <a:pt x="0" y="1237833"/>
                  </a:lnTo>
                  <a:lnTo>
                    <a:pt x="1023366" y="1237833"/>
                  </a:lnTo>
                  <a:lnTo>
                    <a:pt x="1226566" y="618917"/>
                  </a:lnTo>
                  <a:lnTo>
                    <a:pt x="1023366" y="0"/>
                  </a:lnTo>
                  <a:close/>
                </a:path>
              </a:pathLst>
            </a:custGeom>
            <a:solidFill>
              <a:srgbClr val="C492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12266" cy="1266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78266" y="6581490"/>
            <a:ext cx="5724321" cy="342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599">
                <a:solidFill>
                  <a:srgbClr val="3B3B3B"/>
                </a:solidFill>
                <a:latin typeface="Lato 2 Italics"/>
              </a:rPr>
              <a:t>Many software projects have existing codebases written in languages like C or C++.Java's native method support facilitates seamless integration of</a:t>
            </a:r>
          </a:p>
          <a:p>
            <a:pPr algn="ctr" marL="0" indent="0" lvl="0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3B3B3B"/>
                </a:solidFill>
                <a:latin typeface="Lato 2 Italics"/>
              </a:rPr>
              <a:t>C/C++ codebases with Java applications, leveraging existing functionality while benefiting from Java's portability, security and ease of development.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41227" y="4413249"/>
            <a:ext cx="731749" cy="99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1">
              <a:lnSpc>
                <a:spcPts val="7849"/>
              </a:lnSpc>
              <a:spcBef>
                <a:spcPct val="0"/>
              </a:spcBef>
            </a:pPr>
            <a:r>
              <a:rPr lang="en-US" sz="4999" u="none">
                <a:solidFill>
                  <a:srgbClr val="3B3B3B"/>
                </a:solidFill>
                <a:latin typeface="Scripter"/>
              </a:rPr>
              <a:t>03</a:t>
            </a:r>
          </a:p>
        </p:txBody>
      </p:sp>
      <p:grpSp>
        <p:nvGrpSpPr>
          <p:cNvPr name="Group 7" id="7"/>
          <p:cNvGrpSpPr/>
          <p:nvPr/>
        </p:nvGrpSpPr>
        <p:grpSpPr>
          <a:xfrm rot="-5400000">
            <a:off x="9563979" y="4365868"/>
            <a:ext cx="5672216" cy="5766317"/>
            <a:chOff x="0" y="0"/>
            <a:chExt cx="1226566" cy="12469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6566" cy="1246914"/>
            </a:xfrm>
            <a:custGeom>
              <a:avLst/>
              <a:gdLst/>
              <a:ahLst/>
              <a:cxnLst/>
              <a:rect r="r" b="b" t="t" l="l"/>
              <a:pathLst>
                <a:path h="1246914" w="1226566">
                  <a:moveTo>
                    <a:pt x="1023366" y="0"/>
                  </a:moveTo>
                  <a:lnTo>
                    <a:pt x="0" y="0"/>
                  </a:lnTo>
                  <a:lnTo>
                    <a:pt x="0" y="1246914"/>
                  </a:lnTo>
                  <a:lnTo>
                    <a:pt x="1023366" y="1246914"/>
                  </a:lnTo>
                  <a:lnTo>
                    <a:pt x="1226566" y="623457"/>
                  </a:lnTo>
                  <a:lnTo>
                    <a:pt x="1023366" y="0"/>
                  </a:lnTo>
                  <a:close/>
                </a:path>
              </a:pathLst>
            </a:custGeom>
            <a:solidFill>
              <a:srgbClr val="FDD48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112266" cy="1275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516928" y="6198744"/>
            <a:ext cx="5766317" cy="342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3B3B3B"/>
                </a:solidFill>
                <a:latin typeface="Lato 2 Italics"/>
              </a:rPr>
              <a:t>System-level programming tasks like device drivers or low-level networking operations often require direct access to system resources in Java. Utilizing native methods allows developers to implement these functionalities in C/C++ and invoke them from Java applications, overcoming Java's limitations in such scenarios.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34213" y="4413249"/>
            <a:ext cx="731749" cy="99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1">
              <a:lnSpc>
                <a:spcPts val="7849"/>
              </a:lnSpc>
              <a:spcBef>
                <a:spcPct val="0"/>
              </a:spcBef>
            </a:pPr>
            <a:r>
              <a:rPr lang="en-US" sz="4999" u="none">
                <a:solidFill>
                  <a:srgbClr val="3B3B3B"/>
                </a:solidFill>
                <a:latin typeface="Scripter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6177" y="2400300"/>
            <a:ext cx="15440161" cy="176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599">
                <a:solidFill>
                  <a:srgbClr val="343434"/>
                </a:solidFill>
                <a:latin typeface="Lato 2 Italics"/>
              </a:rPr>
              <a:t>Every program created in Java are designed to be independent of the platform they run on. This which means we can use Java applications on almost any platform, including C, C++, Windows, etc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8995059">
            <a:off x="-161008" y="-325198"/>
            <a:ext cx="2923396" cy="2707796"/>
          </a:xfrm>
          <a:custGeom>
            <a:avLst/>
            <a:gdLst/>
            <a:ahLst/>
            <a:cxnLst/>
            <a:rect r="r" b="b" t="t" l="l"/>
            <a:pathLst>
              <a:path h="2707796" w="2923396">
                <a:moveTo>
                  <a:pt x="0" y="0"/>
                </a:moveTo>
                <a:lnTo>
                  <a:pt x="2923397" y="0"/>
                </a:lnTo>
                <a:lnTo>
                  <a:pt x="2923397" y="2707796"/>
                </a:lnTo>
                <a:lnTo>
                  <a:pt x="0" y="2707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-8994000">
            <a:off x="15496291" y="-325198"/>
            <a:ext cx="2923396" cy="2707796"/>
          </a:xfrm>
          <a:custGeom>
            <a:avLst/>
            <a:gdLst/>
            <a:ahLst/>
            <a:cxnLst/>
            <a:rect r="r" b="b" t="t" l="l"/>
            <a:pathLst>
              <a:path h="2707796" w="2923396">
                <a:moveTo>
                  <a:pt x="2923396" y="0"/>
                </a:moveTo>
                <a:lnTo>
                  <a:pt x="0" y="0"/>
                </a:lnTo>
                <a:lnTo>
                  <a:pt x="0" y="2707796"/>
                </a:lnTo>
                <a:lnTo>
                  <a:pt x="2923396" y="2707796"/>
                </a:lnTo>
                <a:lnTo>
                  <a:pt x="29233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5685" y="-95250"/>
            <a:ext cx="16201145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spc="488">
                <a:solidFill>
                  <a:srgbClr val="343434"/>
                </a:solidFill>
                <a:latin typeface="Scripter"/>
              </a:rPr>
              <a:t>Java's ability to call native methods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78266" y="5457540"/>
            <a:ext cx="600963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3399" spc="207">
                <a:solidFill>
                  <a:srgbClr val="343434"/>
                </a:solidFill>
                <a:latin typeface="Scripter"/>
              </a:rPr>
              <a:t>Integration with Existing Codebases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95268" y="5457540"/>
            <a:ext cx="600963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3399" spc="207">
                <a:solidFill>
                  <a:srgbClr val="343434"/>
                </a:solidFill>
                <a:latin typeface="Scripter"/>
              </a:rPr>
              <a:t>System-level Programming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35665" y="4798114"/>
            <a:ext cx="5648956" cy="5917954"/>
          </a:xfrm>
          <a:custGeom>
            <a:avLst/>
            <a:gdLst/>
            <a:ahLst/>
            <a:cxnLst/>
            <a:rect r="r" b="b" t="t" l="l"/>
            <a:pathLst>
              <a:path h="5917954" w="5648956">
                <a:moveTo>
                  <a:pt x="0" y="0"/>
                </a:moveTo>
                <a:lnTo>
                  <a:pt x="5648957" y="0"/>
                </a:lnTo>
                <a:lnTo>
                  <a:pt x="5648957" y="5917955"/>
                </a:lnTo>
                <a:lnTo>
                  <a:pt x="0" y="5917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2012353" y="-1636004"/>
            <a:ext cx="4735518" cy="4961019"/>
          </a:xfrm>
          <a:custGeom>
            <a:avLst/>
            <a:gdLst/>
            <a:ahLst/>
            <a:cxnLst/>
            <a:rect r="r" b="b" t="t" l="l"/>
            <a:pathLst>
              <a:path h="4961019" w="4735518">
                <a:moveTo>
                  <a:pt x="0" y="0"/>
                </a:moveTo>
                <a:lnTo>
                  <a:pt x="4735518" y="0"/>
                </a:lnTo>
                <a:lnTo>
                  <a:pt x="4735518" y="4961019"/>
                </a:lnTo>
                <a:lnTo>
                  <a:pt x="0" y="4961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99245" y="535799"/>
            <a:ext cx="12304132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7000" spc="427">
                <a:solidFill>
                  <a:srgbClr val="343434"/>
                </a:solidFill>
                <a:latin typeface="Scripter"/>
              </a:rPr>
              <a:t>an example situation where a native method is useful:</a:t>
            </a:r>
            <a:r>
              <a:rPr lang="en-US" sz="7000" spc="427">
                <a:solidFill>
                  <a:srgbClr val="343434"/>
                </a:solidFill>
                <a:latin typeface="Scripter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95403" y="3183690"/>
            <a:ext cx="8144755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343434"/>
                </a:solidFill>
                <a:latin typeface="Lato 2"/>
              </a:rPr>
              <a:t>Suppose you are developing a high-performance multimedia application in Java, such as a video editing software, where real-time processing of audio or video data is essential.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9245" y="3264711"/>
            <a:ext cx="1026313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5759"/>
              </a:lnSpc>
              <a:spcBef>
                <a:spcPct val="0"/>
              </a:spcBef>
            </a:pPr>
            <a:r>
              <a:rPr lang="en-US" sz="4799" spc="292">
                <a:solidFill>
                  <a:srgbClr val="343434"/>
                </a:solidFill>
                <a:latin typeface="Scripter"/>
              </a:rPr>
              <a:t>Scenario: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912071">
            <a:off x="16423427" y="59276"/>
            <a:ext cx="4442429" cy="4114800"/>
          </a:xfrm>
          <a:custGeom>
            <a:avLst/>
            <a:gdLst/>
            <a:ahLst/>
            <a:cxnLst/>
            <a:rect r="r" b="b" t="t" l="l"/>
            <a:pathLst>
              <a:path h="4114800" w="4442429">
                <a:moveTo>
                  <a:pt x="0" y="0"/>
                </a:moveTo>
                <a:lnTo>
                  <a:pt x="4442429" y="0"/>
                </a:lnTo>
                <a:lnTo>
                  <a:pt x="4442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912071">
            <a:off x="12450238" y="3393627"/>
            <a:ext cx="2970854" cy="2808975"/>
          </a:xfrm>
          <a:custGeom>
            <a:avLst/>
            <a:gdLst/>
            <a:ahLst/>
            <a:cxnLst/>
            <a:rect r="r" b="b" t="t" l="l"/>
            <a:pathLst>
              <a:path h="2808975" w="2970854">
                <a:moveTo>
                  <a:pt x="0" y="0"/>
                </a:moveTo>
                <a:lnTo>
                  <a:pt x="2970854" y="0"/>
                </a:lnTo>
                <a:lnTo>
                  <a:pt x="2970854" y="2808975"/>
                </a:lnTo>
                <a:lnTo>
                  <a:pt x="0" y="28089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84" r="-16972" b="-1380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62807" y="5526840"/>
            <a:ext cx="1026313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5759"/>
              </a:lnSpc>
              <a:spcBef>
                <a:spcPct val="0"/>
              </a:spcBef>
            </a:pPr>
            <a:r>
              <a:rPr lang="en-US" sz="4799" spc="292">
                <a:solidFill>
                  <a:srgbClr val="343434"/>
                </a:solidFill>
                <a:latin typeface="Scripter"/>
              </a:rPr>
              <a:t>Usage of Native Method: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2807" y="6441240"/>
            <a:ext cx="13072858" cy="3664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199">
                <a:solidFill>
                  <a:srgbClr val="343434"/>
                </a:solidFill>
                <a:latin typeface="Lato 2 Italics"/>
              </a:rPr>
              <a:t>Utilizing C and C++ for critical image processing tasks in Java applications offers performance benefits due to their lower-level nature and proximity to hardware. Accessing optimized libraries like OpenCV or Intel IPP through native methods allows leveraging efficient implementations without Java reimplementation. Platform-specific optimizations such as SIMD and interoperability with existing C/C++ codebases further enhance performance and development efficiency.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2931398"/>
            <a:ext cx="4539877" cy="1485778"/>
          </a:xfrm>
          <a:custGeom>
            <a:avLst/>
            <a:gdLst/>
            <a:ahLst/>
            <a:cxnLst/>
            <a:rect r="r" b="b" t="t" l="l"/>
            <a:pathLst>
              <a:path h="1485778" w="4539877">
                <a:moveTo>
                  <a:pt x="0" y="0"/>
                </a:moveTo>
                <a:lnTo>
                  <a:pt x="4539877" y="0"/>
                </a:lnTo>
                <a:lnTo>
                  <a:pt x="4539877" y="1485777"/>
                </a:lnTo>
                <a:lnTo>
                  <a:pt x="0" y="14857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3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62801">
            <a:off x="4232610" y="8843745"/>
            <a:ext cx="2175484" cy="2451250"/>
          </a:xfrm>
          <a:custGeom>
            <a:avLst/>
            <a:gdLst/>
            <a:ahLst/>
            <a:cxnLst/>
            <a:rect r="r" b="b" t="t" l="l"/>
            <a:pathLst>
              <a:path h="2451250" w="2175484">
                <a:moveTo>
                  <a:pt x="0" y="0"/>
                </a:moveTo>
                <a:lnTo>
                  <a:pt x="2175484" y="0"/>
                </a:lnTo>
                <a:lnTo>
                  <a:pt x="2175484" y="2451250"/>
                </a:lnTo>
                <a:lnTo>
                  <a:pt x="0" y="245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2395" y="6002578"/>
            <a:ext cx="4259289" cy="4548755"/>
          </a:xfrm>
          <a:custGeom>
            <a:avLst/>
            <a:gdLst/>
            <a:ahLst/>
            <a:cxnLst/>
            <a:rect r="r" b="b" t="t" l="l"/>
            <a:pathLst>
              <a:path h="4548755" w="4259289">
                <a:moveTo>
                  <a:pt x="0" y="0"/>
                </a:moveTo>
                <a:lnTo>
                  <a:pt x="4259289" y="0"/>
                </a:lnTo>
                <a:lnTo>
                  <a:pt x="4259289" y="4548755"/>
                </a:lnTo>
                <a:lnTo>
                  <a:pt x="0" y="4548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691061">
            <a:off x="-948112" y="4561721"/>
            <a:ext cx="2175484" cy="2451250"/>
          </a:xfrm>
          <a:custGeom>
            <a:avLst/>
            <a:gdLst/>
            <a:ahLst/>
            <a:cxnLst/>
            <a:rect r="r" b="b" t="t" l="l"/>
            <a:pathLst>
              <a:path h="2451250" w="2175484">
                <a:moveTo>
                  <a:pt x="0" y="0"/>
                </a:moveTo>
                <a:lnTo>
                  <a:pt x="2175484" y="0"/>
                </a:lnTo>
                <a:lnTo>
                  <a:pt x="2175484" y="2451249"/>
                </a:lnTo>
                <a:lnTo>
                  <a:pt x="0" y="2451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64982" y="578743"/>
            <a:ext cx="8718087" cy="2409362"/>
          </a:xfrm>
          <a:custGeom>
            <a:avLst/>
            <a:gdLst/>
            <a:ahLst/>
            <a:cxnLst/>
            <a:rect r="r" b="b" t="t" l="l"/>
            <a:pathLst>
              <a:path h="2409362" w="8718087">
                <a:moveTo>
                  <a:pt x="0" y="0"/>
                </a:moveTo>
                <a:lnTo>
                  <a:pt x="8718087" y="0"/>
                </a:lnTo>
                <a:lnTo>
                  <a:pt x="8718087" y="2409363"/>
                </a:lnTo>
                <a:lnTo>
                  <a:pt x="0" y="2409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691061">
            <a:off x="16591132" y="3269717"/>
            <a:ext cx="2175484" cy="2451250"/>
          </a:xfrm>
          <a:custGeom>
            <a:avLst/>
            <a:gdLst/>
            <a:ahLst/>
            <a:cxnLst/>
            <a:rect r="r" b="b" t="t" l="l"/>
            <a:pathLst>
              <a:path h="2451250" w="2175484">
                <a:moveTo>
                  <a:pt x="0" y="0"/>
                </a:moveTo>
                <a:lnTo>
                  <a:pt x="2175484" y="0"/>
                </a:lnTo>
                <a:lnTo>
                  <a:pt x="2175484" y="2451250"/>
                </a:lnTo>
                <a:lnTo>
                  <a:pt x="0" y="245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362801">
            <a:off x="13303136" y="-1550613"/>
            <a:ext cx="2175484" cy="2451250"/>
          </a:xfrm>
          <a:custGeom>
            <a:avLst/>
            <a:gdLst/>
            <a:ahLst/>
            <a:cxnLst/>
            <a:rect r="r" b="b" t="t" l="l"/>
            <a:pathLst>
              <a:path h="2451250" w="2175484">
                <a:moveTo>
                  <a:pt x="0" y="0"/>
                </a:moveTo>
                <a:lnTo>
                  <a:pt x="2175484" y="0"/>
                </a:lnTo>
                <a:lnTo>
                  <a:pt x="2175484" y="2451249"/>
                </a:lnTo>
                <a:lnTo>
                  <a:pt x="0" y="2451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07500" y="5283914"/>
            <a:ext cx="4281852" cy="5003086"/>
          </a:xfrm>
          <a:custGeom>
            <a:avLst/>
            <a:gdLst/>
            <a:ahLst/>
            <a:cxnLst/>
            <a:rect r="r" b="b" t="t" l="l"/>
            <a:pathLst>
              <a:path h="5003086" w="4281852">
                <a:moveTo>
                  <a:pt x="0" y="0"/>
                </a:moveTo>
                <a:lnTo>
                  <a:pt x="4281853" y="0"/>
                </a:lnTo>
                <a:lnTo>
                  <a:pt x="4281853" y="5003086"/>
                </a:lnTo>
                <a:lnTo>
                  <a:pt x="0" y="50030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39573" y="3769976"/>
            <a:ext cx="13408853" cy="258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183"/>
              </a:lnSpc>
              <a:spcBef>
                <a:spcPct val="0"/>
              </a:spcBef>
            </a:pPr>
            <a:r>
              <a:rPr lang="en-US" sz="15986" spc="975">
                <a:solidFill>
                  <a:srgbClr val="E6EFF4"/>
                </a:solidFill>
                <a:latin typeface="Scripter"/>
              </a:rPr>
              <a:t>thankyou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DAGCyHI8lVo</dc:identifier>
  <dcterms:modified xsi:type="dcterms:W3CDTF">2011-08-01T06:04:30Z</dcterms:modified>
  <cp:revision>1</cp:revision>
  <dc:title>OS PRESENTATION </dc:title>
</cp:coreProperties>
</file>